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3840480" y="-274320"/>
            <a:ext cx="5486400" cy="54864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56032"/>
            <a:ext cx="1371600" cy="219456"/>
          </a:xfrm>
          <a:prstGeom prst="rect">
            <a:avLst/>
          </a:prstGeom>
          <a:solidFill>
            <a:srgbClr val="FF3B5C">
              <a:alpha val="30000"/>
            </a:srgbClr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560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3B5C"/>
                </a:solidFill>
              </a:rPr>
              <a:t>RESTRICTED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1097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</a:rPr>
              <a:t>POLY</a:t>
            </a:r>
            <a:endParaRPr lang="en-US" sz="7200" dirty="0"/>
          </a:p>
        </p:txBody>
      </p:sp>
      <p:sp>
        <p:nvSpPr>
          <p:cNvPr id="21" name="Text 18"/>
          <p:cNvSpPr/>
          <p:nvPr/>
        </p:nvSpPr>
        <p:spPr>
          <a:xfrm>
            <a:off x="457200" y="1874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00D4FF"/>
                </a:solidFill>
              </a:rPr>
              <a:t>MATIC</a:t>
            </a:r>
            <a:endParaRPr lang="en-US" sz="7200" dirty="0"/>
          </a:p>
        </p:txBody>
      </p:sp>
      <p:sp>
        <p:nvSpPr>
          <p:cNvPr id="22" name="Text 19"/>
          <p:cNvSpPr/>
          <p:nvPr/>
        </p:nvSpPr>
        <p:spPr>
          <a:xfrm>
            <a:off x="45720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899AA"/>
                </a:solidFill>
              </a:rPr>
              <a:t>GLOBAL SPATIAL INTELLIGENCE PLATFORM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337560"/>
            <a:ext cx="41148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474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Real-Time OSINT · Geospatial Analytics · AI-Powered Intelligence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846320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FF9D"/>
                </a:solidFill>
              </a:rPr>
              <a:t>SYS STATUS: OPERATIONAL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00400" y="4846320"/>
            <a:ext cx="3657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B800"/>
                </a:solidFill>
              </a:rPr>
              <a:t>CLASSIFICATION: INVESTOR CONFIDENTIAL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858000" y="4846320"/>
            <a:ext cx="2011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REV 1.0 ·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3B5C">
              <a:alpha val="20000"/>
            </a:srgbClr>
          </a:solidFill>
          <a:ln w="6350">
            <a:solidFill>
              <a:srgbClr val="FF3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3B5C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World Is Moving.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Intel Is Fragmented.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DD8"/>
                </a:solidFill>
              </a:rPr>
              <a:t>Analysts across defense, finance, and logistics are forced to monitor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CDD8"/>
                </a:solidFill>
              </a:rPr>
              <a:t>dozens of siloed tools to track global events. Critical signals are missed.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1371600" cy="1188720"/>
          </a:xfrm>
          <a:prstGeom prst="rect">
            <a:avLst/>
          </a:prstGeom>
          <a:solidFill>
            <a:srgbClr val="0D1626"/>
          </a:solidFill>
          <a:ln w="12700">
            <a:solidFill>
              <a:srgbClr val="FF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34640"/>
            <a:ext cx="137160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3B5C"/>
                </a:solidFill>
              </a:rPr>
              <a:t>15+ TOOLS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Average analyst workflow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2834640"/>
            <a:ext cx="1371600" cy="1188720"/>
          </a:xfrm>
          <a:prstGeom prst="rect">
            <a:avLst/>
          </a:prstGeom>
          <a:solidFill>
            <a:srgbClr val="0D1626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2834640"/>
            <a:ext cx="13716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00"/>
                </a:solidFill>
              </a:rPr>
              <a:t>4–6 HOURS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01168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Daily data aggregation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66160" y="2834640"/>
            <a:ext cx="1371600" cy="1188720"/>
          </a:xfrm>
          <a:prstGeom prst="rect">
            <a:avLst/>
          </a:prstGeom>
          <a:solidFill>
            <a:srgbClr val="0D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6160" y="2834640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$2.4M+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6616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Annual cost per team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0" y="182880"/>
            <a:ext cx="3566160" cy="466344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182880"/>
            <a:ext cx="356616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292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3B5C"/>
                </a:solidFill>
              </a:rPr>
              <a:t>SIGNAL LOSS EVENTS — LAST 24H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94960" y="65836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0" y="658368"/>
            <a:ext cx="45720" cy="40233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713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3B5C"/>
                </a:solidFill>
              </a:rPr>
              <a:t>03:41Z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09360" y="7132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AIS blackout — Persian Gulf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116128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94960" y="1161288"/>
            <a:ext cx="45720" cy="40233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32120" y="12161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800"/>
                </a:solidFill>
              </a:rPr>
              <a:t>07:22Z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09360" y="1216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GPS spoofing — Eastern Med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94960" y="166420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94960" y="1664208"/>
            <a:ext cx="45720" cy="4023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32120" y="1719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D4FF"/>
                </a:solidFill>
              </a:rPr>
              <a:t>09:15Z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09360" y="1719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Tanker formation detected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94960" y="216712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94960" y="2167128"/>
            <a:ext cx="45720" cy="40233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32120" y="22219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800"/>
                </a:solidFill>
              </a:rPr>
              <a:t>11:44Z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09360" y="2221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Airspace closed — Damascus FIR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94960" y="267004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2670048"/>
            <a:ext cx="45720" cy="40233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32120" y="27249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FF9D"/>
                </a:solidFill>
              </a:rPr>
              <a:t>14:30Z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09360" y="27249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Seismic anomaly — Zagros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394960" y="317296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94960" y="3172968"/>
            <a:ext cx="45720" cy="40233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32120" y="32278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3B5C"/>
                </a:solidFill>
              </a:rPr>
              <a:t>16:08Z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309360" y="3227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Carrier group: off-pattern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94960" y="367588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94960" y="3675888"/>
            <a:ext cx="45720" cy="40233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32120" y="3730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800"/>
                </a:solidFill>
              </a:rPr>
              <a:t>18:52Z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09360" y="3730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Pipeline pressure drop flagged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394960" y="4178808"/>
            <a:ext cx="3383280" cy="402336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94960" y="4178808"/>
            <a:ext cx="45720" cy="40233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32120" y="42336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3B5C"/>
                </a:solidFill>
              </a:rPr>
              <a:t>21:10Z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309360" y="42336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Dark vessel: Strait of Hormuz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</a:rPr>
              <a:t>SOLUTION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One Platform.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Signal.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CDD8"/>
                </a:solidFill>
              </a:rPr>
              <a:t>PolyMatic fuses global telemetry streams into a single 3D intelligence console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C0CDD8"/>
                </a:solidFill>
              </a:rPr>
              <a:t>palantir-grade analysis at the speed of the world.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06040"/>
            <a:ext cx="26060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8920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FF"/>
                </a:solidFill>
              </a:rPr>
              <a:t>AIR TRAFFIC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6012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Live ADS-B · Military alerts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0" y="260604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0" y="2606040"/>
            <a:ext cx="26060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788920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7947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6EFD"/>
                </a:solidFill>
              </a:rPr>
              <a:t>MARITIME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79476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AIS · Dark ships · Chokepoints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035040" y="260604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035040" y="2606040"/>
            <a:ext cx="26060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788920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62940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FF9D"/>
                </a:solidFill>
              </a:rPr>
              <a:t>SATELLITES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629400" y="3044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TLE orbits · SAR imagery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65760" y="379476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365760" y="3794760"/>
            <a:ext cx="26060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77640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6012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</a:rPr>
              <a:t>SIGNALS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96012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GPS jamming · EW activity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3200400" y="379476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FF3B5C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200400" y="3794760"/>
            <a:ext cx="260604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977640"/>
            <a:ext cx="347472" cy="34747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79476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3B5C"/>
                </a:solidFill>
              </a:rPr>
              <a:t>EVENTS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379476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GDELT · Conflict · FIRMS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035040" y="3794760"/>
            <a:ext cx="2606040" cy="100584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035040" y="3794760"/>
            <a:ext cx="26060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977640"/>
            <a:ext cx="347472" cy="34747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62940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6629400" y="4233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Oil · Power · Pipelines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FF9D">
              <a:alpha val="20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FF9D"/>
                </a:solidFill>
              </a:rPr>
              <a:t>MARKET OPPORTUNITY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$47B Intelligence Market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for Disruption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2468880" cy="1554480"/>
          </a:xfrm>
          <a:prstGeom prst="rect">
            <a:avLst/>
          </a:prstGeom>
          <a:solidFill>
            <a:srgbClr val="0D1626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920240"/>
            <a:ext cx="24688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</a:rPr>
              <a:t>TAM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304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$47B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48640" y="29626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Global GEOINT &amp; OSINT market 2028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1920240"/>
            <a:ext cx="2468880" cy="1554480"/>
          </a:xfrm>
          <a:prstGeom prst="rect">
            <a:avLst/>
          </a:prstGeom>
          <a:solidFill>
            <a:srgbClr val="0D1626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920240"/>
            <a:ext cx="246888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0FF9D"/>
                </a:solidFill>
              </a:rPr>
              <a:t>SAM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2304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$9.2B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383280" y="29626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Commercial intelligence platforms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1920240"/>
            <a:ext cx="2468880" cy="1554480"/>
          </a:xfrm>
          <a:prstGeom prst="rect">
            <a:avLst/>
          </a:prstGeom>
          <a:solidFill>
            <a:srgbClr val="0D1626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1920240"/>
            <a:ext cx="246888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B800"/>
                </a:solidFill>
              </a:rPr>
              <a:t>SOM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23042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$680M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217920" y="29626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OSINT SaaS &amp; analytics tools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99AA"/>
                </a:solidFill>
              </a:rPr>
              <a:t>WHO BUYS SPATIAL INTELLIGENCE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822960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4069080"/>
            <a:ext cx="36576" cy="82296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</a:rPr>
              <a:t>Hedge Funds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Energy, commodity signals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084832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4069080"/>
            <a:ext cx="36576" cy="82296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94560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B5C"/>
                </a:solidFill>
              </a:rPr>
              <a:t>Defense Analysts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194560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Battlefield &amp; airspace intel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758184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58184" y="4069080"/>
            <a:ext cx="36576" cy="822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67912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Journalists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67912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Conflict &amp; event tracking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31536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31536" y="4069080"/>
            <a:ext cx="36576" cy="82296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41264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9D"/>
                </a:solidFill>
              </a:rPr>
              <a:t>Logistics Firms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41264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Port congestion, routing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104888" y="4069080"/>
            <a:ext cx="1508760" cy="8229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04888" y="4069080"/>
            <a:ext cx="36576" cy="82296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14616" y="4133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6EFD"/>
                </a:solidFill>
              </a:rPr>
              <a:t>Governments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14616" y="442569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Critical infra monitoring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</a:rPr>
              <a:t>PRODUCT DEPTH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20 Intelligence Overlays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</a:rPr>
              <a:t>Each layer independently toggleable, real-time updated, and timeline-compatible.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164592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164592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01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72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Aircraft Tracking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42032" y="164592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42032" y="1645920"/>
            <a:ext cx="36576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33472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6EFD"/>
                </a:solidFill>
              </a:rPr>
              <a:t>02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33472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Ship Tracking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18304" y="164592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304" y="1645920"/>
            <a:ext cx="36576" cy="6400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FF9D"/>
                </a:solidFill>
              </a:rPr>
              <a:t>03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09744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Satellite Orbits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94576" y="164592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94576" y="164592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86016" y="17190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04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986016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Wildfire Detection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237744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377440"/>
            <a:ext cx="36576" cy="640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450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</a:rPr>
              <a:t>05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Earthquake Alerts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42032" y="237744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42032" y="237744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33472" y="2450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06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633472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Volcanic Activity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18304" y="237744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18304" y="2377440"/>
            <a:ext cx="36576" cy="640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450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</a:rPr>
              <a:t>07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09744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Oil &amp; Gas Infra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94576" y="237744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94576" y="237744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86016" y="24505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08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986016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Power Grid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10896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3108960"/>
            <a:ext cx="36576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182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6EFD"/>
                </a:solidFill>
              </a:rPr>
              <a:t>09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Global Ports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42032" y="310896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42032" y="310896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33472" y="3182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10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633472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Chokepoints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18304" y="310896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18304" y="3108960"/>
            <a:ext cx="36576" cy="6400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9744" y="3182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FF9D"/>
                </a:solidFill>
              </a:rPr>
              <a:t>11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809744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Military Bases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894576" y="310896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894576" y="310896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86016" y="31821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12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986016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Conflict Events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5760" y="384048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5760" y="3840480"/>
            <a:ext cx="36576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6EFD"/>
                </a:solidFill>
              </a:rPr>
              <a:t>13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Weather Systems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542032" y="384048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42032" y="384048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33472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14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633472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Flood Monitoring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718304" y="384048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18304" y="3840480"/>
            <a:ext cx="36576" cy="640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09744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</a:rPr>
              <a:t>15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809744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Mining Operations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894576" y="384048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894576" y="3840480"/>
            <a:ext cx="36576" cy="640080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986016" y="3913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FF9D"/>
                </a:solidFill>
              </a:rPr>
              <a:t>16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986016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Pipeline Network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65760" y="457200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5760" y="4572000"/>
            <a:ext cx="36576" cy="64008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D6EFD"/>
                </a:solidFill>
              </a:rPr>
              <a:t>17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572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Internet Infra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2542032" y="457200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42032" y="4572000"/>
            <a:ext cx="36576" cy="6400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633472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B800"/>
                </a:solidFill>
              </a:rPr>
              <a:t>18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2633472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Airspace Restrictions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718304" y="457200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18304" y="4572000"/>
            <a:ext cx="36576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09744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19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4809744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Satellite Imagery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6894576" y="4572000"/>
            <a:ext cx="2011680" cy="64008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894576" y="4572000"/>
            <a:ext cx="36576" cy="640080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986016" y="46451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F3B5C"/>
                </a:solidFill>
              </a:rPr>
              <a:t>20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6986016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CDD8"/>
                </a:solidFill>
              </a:rPr>
              <a:t>Dark Ship Detection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KILLER FEATURE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AI Insight Engine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57200" y="13898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PolyMatic's proprietary AI correlates signals across overlays to surface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C0CDD8"/>
                </a:solidFill>
              </a:rPr>
              <a:t>actionable intelligence — automatically.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194560"/>
            <a:ext cx="4572000" cy="804672"/>
          </a:xfrm>
          <a:prstGeom prst="rect">
            <a:avLst/>
          </a:prstGeom>
          <a:solidFill>
            <a:srgbClr val="0A1220"/>
          </a:solidFill>
          <a:ln w="10160">
            <a:solidFill>
              <a:srgbClr val="FF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194560"/>
            <a:ext cx="4572000" cy="36576"/>
          </a:xfrm>
          <a:prstGeom prst="rect">
            <a:avLst/>
          </a:prstGeom>
          <a:solidFill>
            <a:srgbClr val="FF3B5C"/>
          </a:solidFill>
          <a:ln w="12700">
            <a:solidFill>
              <a:srgbClr val="FF3B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3B5C"/>
                </a:solidFill>
              </a:rPr>
              <a:t>⚠ HIGH CONFIDENCE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Oil Export Surge Detected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2697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Large tanker fleet clustering near Strait of Hormuz.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Correlated with refinery output spike. Confidence: 87%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66360" y="2286000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2860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AIS Ship Tracking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66360" y="2514600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Satellite Imagery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66360" y="2743200"/>
            <a:ext cx="1508760" cy="182880"/>
          </a:xfrm>
          <a:prstGeom prst="rect">
            <a:avLst/>
          </a:prstGeom>
          <a:solidFill>
            <a:srgbClr val="FF3B5C">
              <a:alpha val="15000"/>
            </a:srgbClr>
          </a:solidFill>
          <a:ln w="5080">
            <a:solidFill>
              <a:srgbClr val="FF3B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7432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3B5C"/>
                </a:solidFill>
              </a:rPr>
              <a:t>Oil Infra Layer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" y="3127248"/>
            <a:ext cx="4572000" cy="804672"/>
          </a:xfrm>
          <a:prstGeom prst="rect">
            <a:avLst/>
          </a:prstGeom>
          <a:solidFill>
            <a:srgbClr val="0A1220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127248"/>
            <a:ext cx="4572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218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FFB800"/>
                </a:solidFill>
              </a:rPr>
              <a:t>◉ ACTIVE SIGNAL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94360" y="3401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GPS Interference — East Med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" y="3630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Confirmed jamming across Cyprus FIR &amp; eastern Aegean.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Pattern consistent with EW exercises. Confidence: 91%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66360" y="3218688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218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GPS Monitoring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166360" y="3447288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447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Aircraft Tracking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166360" y="3675888"/>
            <a:ext cx="1508760" cy="182880"/>
          </a:xfrm>
          <a:prstGeom prst="rect">
            <a:avLst/>
          </a:prstGeom>
          <a:solidFill>
            <a:srgbClr val="FFB800">
              <a:alpha val="15000"/>
            </a:srgbClr>
          </a:solidFill>
          <a:ln w="5080">
            <a:solidFill>
              <a:srgbClr val="FFB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6758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00"/>
                </a:solidFill>
              </a:rPr>
              <a:t>Airspace Data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" y="4059936"/>
            <a:ext cx="4572000" cy="804672"/>
          </a:xfrm>
          <a:prstGeom prst="rect">
            <a:avLst/>
          </a:prstGeom>
          <a:solidFill>
            <a:srgbClr val="0A1220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4059936"/>
            <a:ext cx="4572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151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D4FF"/>
                </a:solidFill>
              </a:rPr>
              <a:t>▲ EMERGING EVENT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94360" y="43342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Shipping Congestion — Suez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" y="45628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40+ vessels queuing south of Great Bitter Lake.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Average wait time up 340% vs 30-day baseline.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66360" y="4151376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41513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Maritime AIS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166360" y="4379976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43799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Port Analytics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166360" y="4608576"/>
            <a:ext cx="1508760" cy="182880"/>
          </a:xfrm>
          <a:prstGeom prst="rect">
            <a:avLst/>
          </a:prstGeom>
          <a:solidFill>
            <a:srgbClr val="00D4FF">
              <a:alpha val="15000"/>
            </a:srgbClr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66360" y="46085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Chokepoint Layer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858000" y="2103120"/>
            <a:ext cx="2011680" cy="2651760"/>
          </a:xfrm>
          <a:prstGeom prst="rect">
            <a:avLst/>
          </a:prstGeom>
          <a:solidFill>
            <a:srgbClr val="0D1626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0D4FF"/>
                </a:solidFill>
              </a:rPr>
              <a:t>PROCESSING PIPELINE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949440" y="2542032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Data Ingestion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49440" y="2871216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8899A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0" y="2871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Normalization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0A8FA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8FAB"/>
                </a:solidFill>
              </a:rPr>
              <a:t>Spatial Index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949440" y="3529584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4944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AI Correlation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949440" y="3858768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944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800"/>
                </a:solidFill>
              </a:rPr>
              <a:t>Alert Scoring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949440" y="4187952"/>
            <a:ext cx="1828800" cy="256032"/>
          </a:xfrm>
          <a:prstGeom prst="rect">
            <a:avLst/>
          </a:prstGeom>
          <a:solidFill>
            <a:srgbClr val="0A1220"/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9440" y="4187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Broadcast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D6EFD">
              <a:alpha val="20000"/>
            </a:srgbClr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D6EFD"/>
                </a:solidFill>
              </a:rPr>
              <a:t>TECHNOLOGY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Production-Grade Architecture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32004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8899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1417320"/>
            <a:ext cx="1600200" cy="365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899AA"/>
                </a:solidFill>
              </a:rPr>
              <a:t>DATA SOURCES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1148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OpenSky ADS-B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AIS Telemetry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CelesTrak TLE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NASA FIRMS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USGS Seismic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GDELT Events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0240" y="3200400"/>
            <a:ext cx="45720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0312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03120" y="1417320"/>
            <a:ext cx="1600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D4FF"/>
                </a:solidFill>
              </a:rPr>
              <a:t>INGESTION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19456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Python Workers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19456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FastAPI Gateway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9456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Kafka Streaming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19456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9456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NATS Messaging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19456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9456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Rate Limiting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19456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Error Recovery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703320" y="3200400"/>
            <a:ext cx="4572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8620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86200" y="1417320"/>
            <a:ext cx="160020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8620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FF9D"/>
                </a:solidFill>
              </a:rPr>
              <a:t>INTELLIGENCE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97764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7764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PostGIS Index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97764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7764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TimescaleDB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97764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7764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Redis Cache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97764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7764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AI Correlator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97764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7764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Event Detector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97764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7764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Anomaly Engine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486400" y="3200400"/>
            <a:ext cx="457200" cy="0"/>
          </a:xfrm>
          <a:prstGeom prst="line">
            <a:avLst/>
          </a:prstGeom>
          <a:noFill/>
          <a:ln w="19050">
            <a:solidFill>
              <a:srgbClr val="00FF9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6928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9280" y="1417320"/>
            <a:ext cx="16002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6928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B800"/>
                </a:solidFill>
              </a:rPr>
              <a:t>DELIVERY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76072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6072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WebSocket Server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76072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6072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REST API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76072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072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Auth Layer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76072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6072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CDN Edge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76072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6072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Alert Engine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76072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6072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Audit Logs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269480" y="3200400"/>
            <a:ext cx="45720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52360" y="1417320"/>
            <a:ext cx="1600200" cy="347472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52360" y="1417320"/>
            <a:ext cx="160020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5236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D6EFD"/>
                </a:solidFill>
              </a:rPr>
              <a:t>FRONTEND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543800" y="187452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4380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CesiumJS Globe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7543800" y="2350008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43800" y="2350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React 18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543800" y="2825496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543800" y="282549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Zustand State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543800" y="3300984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43800" y="33009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TanStack Query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543800" y="3776472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43800" y="37764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WebSocket Client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543800" y="4251960"/>
            <a:ext cx="1417320" cy="365760"/>
          </a:xfrm>
          <a:prstGeom prst="rect">
            <a:avLst/>
          </a:prstGeom>
          <a:solidFill>
            <a:srgbClr val="0A1220"/>
          </a:solidFill>
          <a:ln w="6350">
            <a:solidFill>
              <a:srgbClr val="1A28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54380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CDD8"/>
                </a:solidFill>
              </a:rPr>
              <a:t>Timeline Engine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320040" y="4892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899AA"/>
                </a:solidFill>
              </a:rPr>
              <a:t>SCALE TARGETS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320040" y="4892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10K+ Aircraft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2560320" y="4892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100K+ Ships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800600" y="4892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500+ Satellites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040880" y="4892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1B+ Events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FF9D">
              <a:alpha val="20000"/>
            </a:srgbClr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FF9D"/>
                </a:solidFill>
              </a:rPr>
              <a:t>BUSINESS MODEL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Built for Enterprise Revenue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2606040" cy="352044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1463040"/>
            <a:ext cx="26060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6EFD"/>
                </a:solidFill>
              </a:rPr>
              <a:t>ANALYST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$499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5720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/ seat / mo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2880360"/>
            <a:ext cx="224028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92608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Core 10 overlays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324612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7-day history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356616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10K entities/layer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" y="388620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Email alerts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" y="4206240"/>
            <a:ext cx="91440" cy="9144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API access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581144"/>
            <a:ext cx="2423160" cy="310896"/>
          </a:xfrm>
          <a:prstGeom prst="rect">
            <a:avLst/>
          </a:prstGeom>
          <a:solidFill>
            <a:srgbClr val="0D6EFD">
              <a:alpha val="20000"/>
            </a:srgbClr>
          </a:solidFill>
          <a:ln w="6350">
            <a:solidFill>
              <a:srgbClr val="0D6E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5811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6EFD"/>
                </a:solidFill>
              </a:rPr>
              <a:t>Journalists · Researchers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46120" y="1280160"/>
            <a:ext cx="2697480" cy="3840480"/>
          </a:xfrm>
          <a:prstGeom prst="rect">
            <a:avLst/>
          </a:prstGeom>
          <a:solidFill>
            <a:srgbClr val="00D4FF">
              <a:alpha val="10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1325880"/>
            <a:ext cx="2606040" cy="3749040"/>
          </a:xfrm>
          <a:prstGeom prst="rect">
            <a:avLst/>
          </a:prstGeom>
          <a:solidFill>
            <a:srgbClr val="0D1626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91840" y="1325880"/>
            <a:ext cx="26060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14630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D4FF"/>
                </a:solidFill>
              </a:rPr>
              <a:t>PROFESSIONAL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918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$2,400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329184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/ seat / mo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474720" y="2743200"/>
            <a:ext cx="224028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20440" y="278892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All 20 overlays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20440" y="310896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90-day history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20440" y="342900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Unlimited entities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20440" y="374904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033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AI insight engine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520440" y="4069080"/>
            <a:ext cx="91440" cy="914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0332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WebSocket API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383280" y="4672584"/>
            <a:ext cx="2423160" cy="310896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46725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Hedge Funds · Analysts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126480" y="1463040"/>
            <a:ext cx="2606040" cy="352044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26480" y="1463040"/>
            <a:ext cx="26060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B800"/>
                </a:solidFill>
              </a:rPr>
              <a:t>ENTERPRISE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26480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Custom</a:t>
            </a:r>
            <a:endParaRPr lang="en-US" sz="3800" dirty="0"/>
          </a:p>
        </p:txBody>
      </p:sp>
      <p:sp>
        <p:nvSpPr>
          <p:cNvPr id="61" name="Text 59"/>
          <p:cNvSpPr/>
          <p:nvPr/>
        </p:nvSpPr>
        <p:spPr>
          <a:xfrm>
            <a:off x="612648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contract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309360" y="2880360"/>
            <a:ext cx="224028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55080" y="292608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Custom overlays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55080" y="324612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379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Unlimited history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55080" y="356616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On-premise deploy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355080" y="388620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SLA guarantees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355080" y="4206240"/>
            <a:ext cx="91440" cy="9144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37960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Dedicated support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217920" y="4581144"/>
            <a:ext cx="2423160" cy="310896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45811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00"/>
                </a:solidFill>
              </a:rPr>
              <a:t>Governments · Defense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FFB800">
              <a:alpha val="20000"/>
            </a:srgbClr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FFB800"/>
                </a:solidFill>
              </a:rPr>
              <a:t>ROADMAP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Mission Timeline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457200" y="1993392"/>
            <a:ext cx="8229600" cy="0"/>
          </a:xfrm>
          <a:prstGeom prst="line">
            <a:avLst/>
          </a:prstGeom>
          <a:noFill/>
          <a:ln w="19050">
            <a:solidFill>
              <a:srgbClr val="1A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1828800"/>
            <a:ext cx="329184" cy="329184"/>
          </a:xfrm>
          <a:prstGeom prst="ellipse">
            <a:avLst/>
          </a:prstGeom>
          <a:solidFill>
            <a:srgbClr val="00FF9D"/>
          </a:solidFill>
          <a:ln w="19050">
            <a:solidFill>
              <a:srgbClr val="00FF9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23160"/>
            <a:ext cx="1920240" cy="25146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423160"/>
            <a:ext cx="1920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9AA"/>
                </a:solidFill>
              </a:rPr>
              <a:t>Q1 2025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FF9D"/>
                </a:solidFill>
              </a:rPr>
              <a:t>LAUNCH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3035808"/>
            <a:ext cx="164592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127248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Core 6 overlays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529584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Globe renderer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931920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Backend streaming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4334256"/>
            <a:ext cx="82296" cy="82296"/>
          </a:xfrm>
          <a:prstGeom prst="ellipse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Beta users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FF9D"/>
                </a:solidFill>
              </a:rPr>
              <a:t>✓ COMPLETE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182112" y="1828800"/>
            <a:ext cx="329184" cy="329184"/>
          </a:xfrm>
          <a:prstGeom prst="ellipse">
            <a:avLst/>
          </a:prstGeom>
          <a:solidFill>
            <a:srgbClr val="00D4FF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42032" y="2423160"/>
            <a:ext cx="1920240" cy="251460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42032" y="2423160"/>
            <a:ext cx="1920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9AA"/>
                </a:solidFill>
              </a:rPr>
              <a:t>Q2 2025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542032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79192" y="3035808"/>
            <a:ext cx="164592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24912" y="3127248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9504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AI insight engine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24912" y="3529584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9504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20 overlays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24912" y="3931920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89504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Enterprise API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24912" y="4334256"/>
            <a:ext cx="82296" cy="8229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504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10 paying clients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42032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FF9D"/>
                </a:solidFill>
              </a:rPr>
              <a:t>✓ COMPLETE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266944" y="1828800"/>
            <a:ext cx="329184" cy="329184"/>
          </a:xfrm>
          <a:prstGeom prst="ellipse">
            <a:avLst/>
          </a:prstGeom>
          <a:solidFill>
            <a:srgbClr val="0D1626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26864" y="2423160"/>
            <a:ext cx="1920240" cy="251460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6864" y="2423160"/>
            <a:ext cx="1920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26864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9AA"/>
                </a:solidFill>
              </a:rPr>
              <a:t>Q3 2025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26864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800"/>
                </a:solidFill>
              </a:rPr>
              <a:t>SCALE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64024" y="3035808"/>
            <a:ext cx="164592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09744" y="3127248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74336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Anomaly detection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09744" y="3529584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74336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Mobile app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809744" y="3931920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74336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SOC2 compliance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09744" y="4334256"/>
            <a:ext cx="82296" cy="82296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74336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50 clients target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626864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899AA"/>
                </a:solidFill>
              </a:rPr>
              <a:t>UPCOMING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351776" y="1828800"/>
            <a:ext cx="329184" cy="329184"/>
          </a:xfrm>
          <a:prstGeom prst="ellipse">
            <a:avLst/>
          </a:prstGeom>
          <a:solidFill>
            <a:srgbClr val="0D1626"/>
          </a:solidFill>
          <a:ln w="19050">
            <a:solidFill>
              <a:srgbClr val="0D6EF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11696" y="2423160"/>
            <a:ext cx="1920240" cy="251460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11696" y="2423160"/>
            <a:ext cx="19202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11696" y="24871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899AA"/>
                </a:solidFill>
              </a:rPr>
              <a:t>Q4 2025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711696" y="2715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6EFD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848856" y="3035808"/>
            <a:ext cx="1645920" cy="27432"/>
          </a:xfrm>
          <a:prstGeom prst="rect">
            <a:avLst/>
          </a:prstGeom>
          <a:solidFill>
            <a:srgbClr val="1A2840"/>
          </a:solidFill>
          <a:ln w="12700">
            <a:solidFill>
              <a:srgbClr val="1A2840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894576" y="3127248"/>
            <a:ext cx="82296" cy="82296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59168" y="30906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Gov contracts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894576" y="3529584"/>
            <a:ext cx="82296" cy="82296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59168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Custom deploys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894576" y="3931920"/>
            <a:ext cx="82296" cy="82296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59168" y="38953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Partner integrations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894576" y="4334256"/>
            <a:ext cx="82296" cy="82296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59168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DD8"/>
                </a:solidFill>
              </a:rPr>
              <a:t>$5M ARR target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711696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899AA"/>
                </a:solidFill>
              </a:rPr>
              <a:t>UPCOMING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84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3200400" y="182880"/>
            <a:ext cx="5486400" cy="54864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182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00D4FF"/>
                </a:solidFill>
              </a:rPr>
              <a:t>THE ASK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5943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Join the Intelligence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Revolution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457200" y="2148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CDD8"/>
                </a:solidFill>
              </a:rPr>
              <a:t>We are raising a $4M Seed round to scale PolyMatic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0CDD8"/>
                </a:solidFill>
              </a:rPr>
              <a:t>into the world's leading commercial OSINT platform.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2926080"/>
            <a:ext cx="4572000" cy="329184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2926080"/>
            <a:ext cx="1828800" cy="32918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9260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40%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88720" y="29260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DD8"/>
                </a:solidFill>
              </a:rPr>
              <a:t>Engineering &amp; Infrastructure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3328416"/>
            <a:ext cx="4572000" cy="329184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3328416"/>
            <a:ext cx="1143000" cy="329184"/>
          </a:xfrm>
          <a:prstGeom prst="rect">
            <a:avLst/>
          </a:prstGeom>
          <a:solidFill>
            <a:srgbClr val="00FF9D">
              <a:alpha val="25000"/>
            </a:srgbClr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32841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25%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88720" y="33284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DD8"/>
                </a:solidFill>
              </a:rPr>
              <a:t>AI / Data Science Team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730752"/>
            <a:ext cx="4572000" cy="329184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730752"/>
            <a:ext cx="914400" cy="329184"/>
          </a:xfrm>
          <a:prstGeom prst="rect">
            <a:avLst/>
          </a:prstGeom>
          <a:solidFill>
            <a:srgbClr val="FFB800">
              <a:alpha val="25000"/>
            </a:srgbClr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373075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20%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88720" y="373075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DD8"/>
                </a:solidFill>
              </a:rPr>
              <a:t>Sales &amp; Enterprise GTM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133088"/>
            <a:ext cx="4572000" cy="329184"/>
          </a:xfrm>
          <a:prstGeom prst="rect">
            <a:avLst/>
          </a:prstGeom>
          <a:solidFill>
            <a:srgbClr val="0D1626"/>
          </a:solidFill>
          <a:ln w="5080">
            <a:solidFill>
              <a:srgbClr val="1A284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" y="4133088"/>
            <a:ext cx="685800" cy="329184"/>
          </a:xfrm>
          <a:prstGeom prst="rect">
            <a:avLst/>
          </a:prstGeom>
          <a:solidFill>
            <a:srgbClr val="0D6EFD">
              <a:alpha val="25000"/>
            </a:srgbClr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13308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FD"/>
                </a:solidFill>
              </a:rPr>
              <a:t>15%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188720" y="41330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DD8"/>
                </a:solidFill>
              </a:rPr>
              <a:t>Operations &amp; Compliance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303520" y="1828800"/>
            <a:ext cx="1920240" cy="1097280"/>
          </a:xfrm>
          <a:prstGeom prst="rect">
            <a:avLst/>
          </a:prstGeom>
          <a:solidFill>
            <a:srgbClr val="0D1626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303520" y="1828800"/>
            <a:ext cx="1920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4924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$4M</a:t>
            </a:r>
            <a:endParaRPr lang="en-US" sz="3200" dirty="0"/>
          </a:p>
        </p:txBody>
      </p:sp>
      <p:sp>
        <p:nvSpPr>
          <p:cNvPr id="41" name="Text 38"/>
          <p:cNvSpPr/>
          <p:nvPr/>
        </p:nvSpPr>
        <p:spPr>
          <a:xfrm>
            <a:off x="53492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9AA"/>
                </a:solidFill>
              </a:rPr>
              <a:t>SEED TARGET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040880" y="1828800"/>
            <a:ext cx="1920240" cy="1097280"/>
          </a:xfrm>
          <a:prstGeom prst="rect">
            <a:avLst/>
          </a:prstGeom>
          <a:solidFill>
            <a:srgbClr val="0D1626"/>
          </a:solidFill>
          <a:ln w="10160">
            <a:solidFill>
              <a:srgbClr val="00FF9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040880" y="1828800"/>
            <a:ext cx="1920240" cy="36576"/>
          </a:xfrm>
          <a:prstGeom prst="rect">
            <a:avLst/>
          </a:prstGeom>
          <a:solidFill>
            <a:srgbClr val="00FF9D"/>
          </a:solidFill>
          <a:ln w="12700">
            <a:solidFill>
              <a:srgbClr val="00FF9D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08660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9D"/>
                </a:solidFill>
              </a:rPr>
              <a:t>18Mo</a:t>
            </a:r>
            <a:endParaRPr lang="en-US" sz="3200" dirty="0"/>
          </a:p>
        </p:txBody>
      </p:sp>
      <p:sp>
        <p:nvSpPr>
          <p:cNvPr id="45" name="Text 42"/>
          <p:cNvSpPr/>
          <p:nvPr/>
        </p:nvSpPr>
        <p:spPr>
          <a:xfrm>
            <a:off x="70866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9AA"/>
                </a:solidFill>
              </a:rPr>
              <a:t>TO ARR POSITIVE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303520" y="3063240"/>
            <a:ext cx="1920240" cy="1097280"/>
          </a:xfrm>
          <a:prstGeom prst="rect">
            <a:avLst/>
          </a:prstGeom>
          <a:solidFill>
            <a:srgbClr val="0D1626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303520" y="3063240"/>
            <a:ext cx="192024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4924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00"/>
                </a:solidFill>
              </a:rPr>
              <a:t>$5M</a:t>
            </a:r>
            <a:endParaRPr lang="en-US" sz="3200" dirty="0"/>
          </a:p>
        </p:txBody>
      </p:sp>
      <p:sp>
        <p:nvSpPr>
          <p:cNvPr id="49" name="Text 46"/>
          <p:cNvSpPr/>
          <p:nvPr/>
        </p:nvSpPr>
        <p:spPr>
          <a:xfrm>
            <a:off x="534924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9AA"/>
                </a:solidFill>
              </a:rPr>
              <a:t>ARR TARGET YR 1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040880" y="3063240"/>
            <a:ext cx="1920240" cy="1097280"/>
          </a:xfrm>
          <a:prstGeom prst="rect">
            <a:avLst/>
          </a:prstGeom>
          <a:solidFill>
            <a:srgbClr val="0D1626"/>
          </a:solidFill>
          <a:ln w="10160">
            <a:solidFill>
              <a:srgbClr val="0D6EF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040880" y="3063240"/>
            <a:ext cx="1920240" cy="36576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8660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6EFD"/>
                </a:solidFill>
              </a:rPr>
              <a:t>3×</a:t>
            </a:r>
            <a:endParaRPr lang="en-US" sz="3200" dirty="0"/>
          </a:p>
        </p:txBody>
      </p:sp>
      <p:sp>
        <p:nvSpPr>
          <p:cNvPr id="53" name="Text 50"/>
          <p:cNvSpPr/>
          <p:nvPr/>
        </p:nvSpPr>
        <p:spPr>
          <a:xfrm>
            <a:off x="7086600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899AA"/>
                </a:solidFill>
              </a:rPr>
              <a:t>INDUSTRY MARGINS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contact@polymatic.io  ·  polymatic.io/investor-deck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PolyMatic — Global Spatial Intelligence Platform</dc:title>
  <dc:subject>PptxGenJS Presentation</dc:subject>
  <dc:creator>PolyMatic Team</dc:creator>
  <cp:lastModifiedBy>PolyMatic Team</cp:lastModifiedBy>
  <cp:revision>1</cp:revision>
  <dcterms:created xsi:type="dcterms:W3CDTF">2026-03-10T03:58:18Z</dcterms:created>
  <dcterms:modified xsi:type="dcterms:W3CDTF">2026-03-10T03:58:18Z</dcterms:modified>
</cp:coreProperties>
</file>