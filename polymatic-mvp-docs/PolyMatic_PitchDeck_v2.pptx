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3840480" y="-274320"/>
            <a:ext cx="5486400" cy="54864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256032"/>
            <a:ext cx="1371600" cy="219456"/>
          </a:xfrm>
          <a:prstGeom prst="rect">
            <a:avLst/>
          </a:prstGeom>
          <a:solidFill>
            <a:srgbClr val="FF3B5C">
              <a:alpha val="30000"/>
            </a:srgbClr>
          </a:solidFill>
          <a:ln w="6350">
            <a:solidFill>
              <a:srgbClr val="FF3B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560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3B5C"/>
                </a:solidFill>
              </a:rPr>
              <a:t>RESTRICTED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1097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</a:rPr>
              <a:t>POLY</a:t>
            </a:r>
            <a:endParaRPr lang="en-US" sz="7200" dirty="0"/>
          </a:p>
        </p:txBody>
      </p:sp>
      <p:sp>
        <p:nvSpPr>
          <p:cNvPr id="21" name="Text 18"/>
          <p:cNvSpPr/>
          <p:nvPr/>
        </p:nvSpPr>
        <p:spPr>
          <a:xfrm>
            <a:off x="457200" y="18745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00D4FF"/>
                </a:solidFill>
              </a:rPr>
              <a:t>MATIC</a:t>
            </a:r>
            <a:endParaRPr lang="en-US" sz="7200" dirty="0"/>
          </a:p>
        </p:txBody>
      </p:sp>
      <p:sp>
        <p:nvSpPr>
          <p:cNvPr id="22" name="Text 19"/>
          <p:cNvSpPr/>
          <p:nvPr/>
        </p:nvSpPr>
        <p:spPr>
          <a:xfrm>
            <a:off x="45720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899AA"/>
                </a:solidFill>
              </a:rPr>
              <a:t>GLOBAL GEOSPATIAL MACRO INTELLIGENCE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337560"/>
            <a:ext cx="41148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474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CDD8"/>
                </a:solidFill>
              </a:rPr>
              <a:t>Real-Time OSINT · Geospatial Analytics · AI-Powered Intelligence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846320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FF9D"/>
                </a:solidFill>
              </a:rPr>
              <a:t>SYS STATUS: OPERATIONAL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200400" y="4846320"/>
            <a:ext cx="3657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B800"/>
                </a:solidFill>
              </a:rPr>
              <a:t>CLASSIFICATION: INVESTOR CONFIDENTIAL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858000" y="4846320"/>
            <a:ext cx="2011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REV 1.0 ·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FF3B5C">
              <a:alpha val="20000"/>
            </a:srgbClr>
          </a:solidFill>
          <a:ln w="6350">
            <a:solidFill>
              <a:srgbClr val="FF3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3B5C"/>
                </a:solidFill>
              </a:rPr>
              <a:t>THE PROBLEM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943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World Is Moving.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Intel Is Fragmented.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7200" y="1965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DD8"/>
                </a:solidFill>
              </a:rPr>
              <a:t>Analysts across defense, finance, and logistics are forced to monitor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CDD8"/>
                </a:solidFill>
              </a:rPr>
              <a:t>dozens of siloed tools to track global events. Critical signals are missed.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1371600" cy="1188720"/>
          </a:xfrm>
          <a:prstGeom prst="rect">
            <a:avLst/>
          </a:prstGeom>
          <a:solidFill>
            <a:srgbClr val="0D1626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34640"/>
            <a:ext cx="1371600" cy="3657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3B5C"/>
                </a:solidFill>
              </a:rPr>
              <a:t>15+ TOOLS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Average analyst workflow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2834640"/>
            <a:ext cx="1371600" cy="1188720"/>
          </a:xfrm>
          <a:prstGeom prst="rect">
            <a:avLst/>
          </a:prstGeom>
          <a:solidFill>
            <a:srgbClr val="0D1626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0" y="2834640"/>
            <a:ext cx="13716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</a:rPr>
              <a:t>4–6 HOURS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01168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Daily data aggregation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66160" y="2834640"/>
            <a:ext cx="1371600" cy="1188720"/>
          </a:xfrm>
          <a:prstGeom prst="rect">
            <a:avLst/>
          </a:prstGeom>
          <a:solidFill>
            <a:srgbClr val="0D162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6160" y="2834640"/>
            <a:ext cx="1371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$2.4M+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56616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Annual cost per team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03520" y="182880"/>
            <a:ext cx="3566160" cy="466344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0" y="182880"/>
            <a:ext cx="3566160" cy="3657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292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3B5C"/>
                </a:solidFill>
              </a:rPr>
              <a:t>SIGNAL LOSS EVENTS — LAST 24H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394960" y="658368"/>
            <a:ext cx="3383280" cy="402336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0" y="658368"/>
            <a:ext cx="45720" cy="40233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7132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3B5C"/>
                </a:solidFill>
              </a:rPr>
              <a:t>03:41Z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09360" y="7132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AIS blackout — Persian Gulf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94960" y="1161288"/>
            <a:ext cx="3383280" cy="402336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94960" y="1161288"/>
            <a:ext cx="45720" cy="40233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32120" y="1216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800"/>
                </a:solidFill>
              </a:rPr>
              <a:t>07:22Z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09360" y="1216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GPS spoofing — Eastern Med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94960" y="1664208"/>
            <a:ext cx="3383280" cy="402336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94960" y="1664208"/>
            <a:ext cx="45720" cy="40233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32120" y="1719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FF"/>
                </a:solidFill>
              </a:rPr>
              <a:t>09:15Z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09360" y="17190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Tanker formation detected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394960" y="2167128"/>
            <a:ext cx="3383280" cy="402336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94960" y="2167128"/>
            <a:ext cx="45720" cy="40233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32120" y="22219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800"/>
                </a:solidFill>
              </a:rPr>
              <a:t>11:44Z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309360" y="2221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Airspace closed — Damascus FIR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394960" y="2670048"/>
            <a:ext cx="3383280" cy="402336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94960" y="2670048"/>
            <a:ext cx="45720" cy="40233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32120" y="27249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FF9D"/>
                </a:solidFill>
              </a:rPr>
              <a:t>14:30Z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09360" y="2724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Seismic anomaly — Zagros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394960" y="3172968"/>
            <a:ext cx="3383280" cy="402336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94960" y="3172968"/>
            <a:ext cx="45720" cy="40233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32120" y="32278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3B5C"/>
                </a:solidFill>
              </a:rPr>
              <a:t>16:08Z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309360" y="3227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Carrier group: off-pattern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394960" y="3675888"/>
            <a:ext cx="3383280" cy="402336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94960" y="3675888"/>
            <a:ext cx="45720" cy="40233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32120" y="3730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800"/>
                </a:solidFill>
              </a:rPr>
              <a:t>18:52Z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09360" y="3730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Pipeline pressure drop flagged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394960" y="4178808"/>
            <a:ext cx="3383280" cy="402336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94960" y="4178808"/>
            <a:ext cx="45720" cy="40233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32120" y="42336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3B5C"/>
                </a:solidFill>
              </a:rPr>
              <a:t>21:10Z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309360" y="4233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Dark vessel: Strait of Hormuz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D4FF"/>
                </a:solidFill>
              </a:rPr>
              <a:t>SOLUTION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One Platform.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Every Signal.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CDD8"/>
                </a:solidFill>
              </a:rPr>
              <a:t>PolyMatic fuses global telemetry streams into a single 3D intelligence console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C0CDD8"/>
                </a:solidFill>
              </a:rPr>
              <a:t>palantir-grade analysis at the speed of the world.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606040"/>
            <a:ext cx="26060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06040"/>
            <a:ext cx="26060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88920"/>
            <a:ext cx="347472" cy="34747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601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D4FF"/>
                </a:solidFill>
              </a:rPr>
              <a:t>AIR TRAFFIC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60120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Live ADS-B · Military alerts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00400" y="2606040"/>
            <a:ext cx="26060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0D6EF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00400" y="2606040"/>
            <a:ext cx="2606040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788920"/>
            <a:ext cx="347472" cy="34747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79476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6EFD"/>
                </a:solidFill>
              </a:rPr>
              <a:t>MARITIME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794760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AIS · Dark ships · Chokepoints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035040" y="2606040"/>
            <a:ext cx="26060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00FF9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035040" y="2606040"/>
            <a:ext cx="260604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788920"/>
            <a:ext cx="347472" cy="34747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62940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FF9D"/>
                </a:solidFill>
              </a:rPr>
              <a:t>SATELLITES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629400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TLE orbits · SAR imagery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65760" y="3794760"/>
            <a:ext cx="26060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365760" y="3794760"/>
            <a:ext cx="260604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77640"/>
            <a:ext cx="347472" cy="34747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6012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800"/>
                </a:solidFill>
              </a:rPr>
              <a:t>SIGNALS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960120" y="4233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GPS jamming · EW activity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3200400" y="3794760"/>
            <a:ext cx="26060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FF3B5C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3200400" y="3794760"/>
            <a:ext cx="2606040" cy="3657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977640"/>
            <a:ext cx="347472" cy="34747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379476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3B5C"/>
                </a:solidFill>
              </a:rPr>
              <a:t>EVENTS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3794760" y="4233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GDELT · Conflict · FIRMS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6035040" y="3794760"/>
            <a:ext cx="26060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035040" y="3794760"/>
            <a:ext cx="26060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977640"/>
            <a:ext cx="347472" cy="347472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662940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D4FF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6629400" y="4233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Oil · Power · Pipelines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0FF9D">
              <a:alpha val="20000"/>
            </a:srgbClr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FF9D"/>
                </a:solidFill>
              </a:rPr>
              <a:t>MARKET OPPORTUNITY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 $47B Intelligence Market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Ready for Disruption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457200" y="1920240"/>
            <a:ext cx="2468880" cy="1554480"/>
          </a:xfrm>
          <a:prstGeom prst="rect">
            <a:avLst/>
          </a:prstGeom>
          <a:solidFill>
            <a:srgbClr val="0D162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920240"/>
            <a:ext cx="24688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011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TAM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3042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$47B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48640" y="29626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Global GEOINT &amp; OSINT market 2028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91840" y="1920240"/>
            <a:ext cx="2468880" cy="1554480"/>
          </a:xfrm>
          <a:prstGeom prst="rect">
            <a:avLst/>
          </a:prstGeom>
          <a:solidFill>
            <a:srgbClr val="0D1626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1920240"/>
            <a:ext cx="246888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11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FF9D"/>
                </a:solidFill>
              </a:rPr>
              <a:t>SAM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23042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$9.2B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383280" y="29626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Commercial intelligence platforms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26480" y="1920240"/>
            <a:ext cx="2468880" cy="1554480"/>
          </a:xfrm>
          <a:prstGeom prst="rect">
            <a:avLst/>
          </a:prstGeom>
          <a:solidFill>
            <a:srgbClr val="0D1626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1920240"/>
            <a:ext cx="246888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011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B800"/>
                </a:solidFill>
              </a:rPr>
              <a:t>SOM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23042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$680M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217920" y="29626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OSINT SaaS &amp; analytics tools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3703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99AA"/>
                </a:solidFill>
              </a:rPr>
              <a:t>WHO BUYS SPATIAL INTELLIGENCE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977640"/>
            <a:ext cx="822960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4069080"/>
            <a:ext cx="1508760" cy="82296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4069080"/>
            <a:ext cx="36576" cy="8229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41330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</a:rPr>
              <a:t>Hedge Funds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" y="44256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Energy, commodity signals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084832" y="4069080"/>
            <a:ext cx="1508760" cy="82296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84832" y="4069080"/>
            <a:ext cx="36576" cy="82296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94560" y="41330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B5C"/>
                </a:solidFill>
              </a:rPr>
              <a:t>Defense Analysts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194560" y="44256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Battlefield &amp; airspace intel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758184" y="4069080"/>
            <a:ext cx="1508760" cy="82296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58184" y="4069080"/>
            <a:ext cx="36576" cy="822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67912" y="41330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Journalists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67912" y="44256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Conflict &amp; event tracking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431536" y="4069080"/>
            <a:ext cx="1508760" cy="82296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31536" y="4069080"/>
            <a:ext cx="36576" cy="82296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41264" y="41330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9D"/>
                </a:solidFill>
              </a:rPr>
              <a:t>Logistics Firms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541264" y="44256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Port congestion, routing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104888" y="4069080"/>
            <a:ext cx="1508760" cy="82296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04888" y="4069080"/>
            <a:ext cx="36576" cy="82296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14616" y="41330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6EFD"/>
                </a:solidFill>
              </a:rPr>
              <a:t>Governments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214616" y="44256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Critical infra monitoring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D4FF"/>
                </a:solidFill>
              </a:rPr>
              <a:t>PRODUCT DEPTH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20 Intelligence Overlays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</a:rPr>
              <a:t>Each layer independently toggleable, real-time updated, and timeline-compatible.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164592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645920"/>
            <a:ext cx="36576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19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D4FF"/>
                </a:solidFill>
              </a:rPr>
              <a:t>01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5720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Aircraft Tracking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42032" y="164592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42032" y="1645920"/>
            <a:ext cx="36576" cy="6400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33472" y="1719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D6EFD"/>
                </a:solidFill>
              </a:rPr>
              <a:t>02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33472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Ship Tracking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18304" y="164592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18304" y="1645920"/>
            <a:ext cx="36576" cy="64008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1719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FF9D"/>
                </a:solidFill>
              </a:rPr>
              <a:t>03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09744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Satellite Orbits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94576" y="164592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94576" y="1645920"/>
            <a:ext cx="36576" cy="64008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86016" y="1719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3B5C"/>
                </a:solidFill>
              </a:rPr>
              <a:t>04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986016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Wildfire Detection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237744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2377440"/>
            <a:ext cx="36576" cy="6400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450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B800"/>
                </a:solidFill>
              </a:rPr>
              <a:t>05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Earthquake Alerts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42032" y="237744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42032" y="2377440"/>
            <a:ext cx="36576" cy="64008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33472" y="2450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3B5C"/>
                </a:solidFill>
              </a:rPr>
              <a:t>06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633472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Volcanic Activity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18304" y="237744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18304" y="2377440"/>
            <a:ext cx="36576" cy="6400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9744" y="2450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B800"/>
                </a:solidFill>
              </a:rPr>
              <a:t>07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809744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Oil &amp; Gas Infra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894576" y="237744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94576" y="2377440"/>
            <a:ext cx="36576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86016" y="2450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D4FF"/>
                </a:solidFill>
              </a:rPr>
              <a:t>08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986016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Power Grid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310896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" y="3108960"/>
            <a:ext cx="36576" cy="6400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1821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D6EFD"/>
                </a:solidFill>
              </a:rPr>
              <a:t>09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572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Global Ports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542032" y="310896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42032" y="3108960"/>
            <a:ext cx="36576" cy="64008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33472" y="31821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3B5C"/>
                </a:solidFill>
              </a:rPr>
              <a:t>10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633472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Chokepoints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18304" y="310896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18304" y="3108960"/>
            <a:ext cx="36576" cy="64008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09744" y="31821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FF9D"/>
                </a:solidFill>
              </a:rPr>
              <a:t>11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809744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Military Bases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894576" y="310896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94576" y="3108960"/>
            <a:ext cx="36576" cy="64008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86016" y="31821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3B5C"/>
                </a:solidFill>
              </a:rPr>
              <a:t>12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986016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Conflict Events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65760" y="384048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5760" y="3840480"/>
            <a:ext cx="36576" cy="6400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39136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D6EFD"/>
                </a:solidFill>
              </a:rPr>
              <a:t>13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5720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Weather Systems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542032" y="384048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42032" y="3840480"/>
            <a:ext cx="36576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33472" y="39136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D4FF"/>
                </a:solidFill>
              </a:rPr>
              <a:t>14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633472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Flood Monitoring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718304" y="384048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18304" y="3840480"/>
            <a:ext cx="36576" cy="6400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09744" y="39136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B800"/>
                </a:solidFill>
              </a:rPr>
              <a:t>15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809744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Mining Operations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894576" y="384048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94576" y="3840480"/>
            <a:ext cx="36576" cy="64008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86016" y="39136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FF9D"/>
                </a:solidFill>
              </a:rPr>
              <a:t>16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6986016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Pipeline Network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65760" y="457200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65760" y="4572000"/>
            <a:ext cx="36576" cy="6400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D6EFD"/>
                </a:solidFill>
              </a:rPr>
              <a:t>17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45720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Internet Infra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2542032" y="457200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42032" y="4572000"/>
            <a:ext cx="36576" cy="6400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633472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B800"/>
                </a:solidFill>
              </a:rPr>
              <a:t>18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2633472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Airspace Restrictions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718304" y="457200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18304" y="4572000"/>
            <a:ext cx="36576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09744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D4FF"/>
                </a:solidFill>
              </a:rPr>
              <a:t>19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4809744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Satellite Imagery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6894576" y="457200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894576" y="4572000"/>
            <a:ext cx="36576" cy="64008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986016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3B5C"/>
                </a:solidFill>
              </a:rPr>
              <a:t>20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6986016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Dark Ship Detection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FFB800">
              <a:alpha val="20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B800"/>
                </a:solidFill>
              </a:rPr>
              <a:t>KILLER FEATURE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AI Insight Engine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57200" y="138988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CDD8"/>
                </a:solidFill>
              </a:rPr>
              <a:t>PolyMatic's proprietary AI correlates signals across overlays to surface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0CDD8"/>
                </a:solidFill>
              </a:rPr>
              <a:t>actionable intelligence — automatically.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194560"/>
            <a:ext cx="4572000" cy="804672"/>
          </a:xfrm>
          <a:prstGeom prst="rect">
            <a:avLst/>
          </a:prstGeom>
          <a:solidFill>
            <a:srgbClr val="0A1220"/>
          </a:solidFill>
          <a:ln w="10160">
            <a:solidFill>
              <a:srgbClr val="FF3B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194560"/>
            <a:ext cx="4572000" cy="3657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286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3B5C"/>
                </a:solidFill>
              </a:rPr>
              <a:t>⚠ HIGH CONFIDENCE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2468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Oil Export Surge Detected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2697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Large tanker fleet clustering near Strait of Hormuz.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Correlated with refinery output spike. Confidence: 87%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66360" y="2286000"/>
            <a:ext cx="1508760" cy="182880"/>
          </a:xfrm>
          <a:prstGeom prst="rect">
            <a:avLst/>
          </a:prstGeom>
          <a:solidFill>
            <a:srgbClr val="FF3B5C">
              <a:alpha val="15000"/>
            </a:srgbClr>
          </a:solidFill>
          <a:ln w="5080">
            <a:solidFill>
              <a:srgbClr val="FF3B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3B5C"/>
                </a:solidFill>
              </a:rPr>
              <a:t>AIS Ship Tracking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166360" y="2514600"/>
            <a:ext cx="1508760" cy="182880"/>
          </a:xfrm>
          <a:prstGeom prst="rect">
            <a:avLst/>
          </a:prstGeom>
          <a:solidFill>
            <a:srgbClr val="FF3B5C">
              <a:alpha val="15000"/>
            </a:srgbClr>
          </a:solidFill>
          <a:ln w="5080">
            <a:solidFill>
              <a:srgbClr val="FF3B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514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3B5C"/>
                </a:solidFill>
              </a:rPr>
              <a:t>Satellite Imagery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166360" y="2743200"/>
            <a:ext cx="1508760" cy="182880"/>
          </a:xfrm>
          <a:prstGeom prst="rect">
            <a:avLst/>
          </a:prstGeom>
          <a:solidFill>
            <a:srgbClr val="FF3B5C">
              <a:alpha val="15000"/>
            </a:srgbClr>
          </a:solidFill>
          <a:ln w="5080">
            <a:solidFill>
              <a:srgbClr val="FF3B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743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3B5C"/>
                </a:solidFill>
              </a:rPr>
              <a:t>Oil Infra Layer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57200" y="3127248"/>
            <a:ext cx="4572000" cy="804672"/>
          </a:xfrm>
          <a:prstGeom prst="rect">
            <a:avLst/>
          </a:prstGeom>
          <a:solidFill>
            <a:srgbClr val="0A1220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127248"/>
            <a:ext cx="45720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218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B800"/>
                </a:solidFill>
              </a:rPr>
              <a:t>◉ ACTIVE SIGNAL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94360" y="3401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GPS Interference — East Med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36301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Confirmed jamming across Cyprus FIR &amp; eastern Aegean.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Pattern consistent with EW exercises. Confidence: 91%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166360" y="3218688"/>
            <a:ext cx="1508760" cy="182880"/>
          </a:xfrm>
          <a:prstGeom prst="rect">
            <a:avLst/>
          </a:prstGeom>
          <a:solidFill>
            <a:srgbClr val="FFB800">
              <a:alpha val="15000"/>
            </a:srgbClr>
          </a:solidFill>
          <a:ln w="5080">
            <a:solidFill>
              <a:srgbClr val="FFB8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2186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800"/>
                </a:solidFill>
              </a:rPr>
              <a:t>GPS Monitoring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166360" y="3447288"/>
            <a:ext cx="1508760" cy="182880"/>
          </a:xfrm>
          <a:prstGeom prst="rect">
            <a:avLst/>
          </a:prstGeom>
          <a:solidFill>
            <a:srgbClr val="FFB800">
              <a:alpha val="15000"/>
            </a:srgbClr>
          </a:solidFill>
          <a:ln w="5080">
            <a:solidFill>
              <a:srgbClr val="FFB8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34472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800"/>
                </a:solidFill>
              </a:rPr>
              <a:t>Aircraft Tracking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166360" y="3675888"/>
            <a:ext cx="1508760" cy="182880"/>
          </a:xfrm>
          <a:prstGeom prst="rect">
            <a:avLst/>
          </a:prstGeom>
          <a:solidFill>
            <a:srgbClr val="FFB800">
              <a:alpha val="15000"/>
            </a:srgbClr>
          </a:solidFill>
          <a:ln w="5080">
            <a:solidFill>
              <a:srgbClr val="FFB8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36758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800"/>
                </a:solidFill>
              </a:rPr>
              <a:t>Airspace Data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57200" y="4059936"/>
            <a:ext cx="4572000" cy="804672"/>
          </a:xfrm>
          <a:prstGeom prst="rect">
            <a:avLst/>
          </a:prstGeom>
          <a:solidFill>
            <a:srgbClr val="0A1220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4059936"/>
            <a:ext cx="4572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1513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0D4FF"/>
                </a:solidFill>
              </a:rPr>
              <a:t>▲ EMERGING EVENT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94360" y="43342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Shipping Congestion — Suez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4360" y="45628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40+ vessels queuing south of Great Bitter Lake.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Average wait time up 340% vs 30-day baseline.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166360" y="4151376"/>
            <a:ext cx="1508760" cy="182880"/>
          </a:xfrm>
          <a:prstGeom prst="rect">
            <a:avLst/>
          </a:prstGeom>
          <a:solidFill>
            <a:srgbClr val="00D4FF">
              <a:alpha val="15000"/>
            </a:srgbClr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41513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Maritime AIS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166360" y="4379976"/>
            <a:ext cx="1508760" cy="182880"/>
          </a:xfrm>
          <a:prstGeom prst="rect">
            <a:avLst/>
          </a:prstGeom>
          <a:solidFill>
            <a:srgbClr val="00D4FF">
              <a:alpha val="15000"/>
            </a:srgbClr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66360" y="43799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Port Analytics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166360" y="4608576"/>
            <a:ext cx="1508760" cy="182880"/>
          </a:xfrm>
          <a:prstGeom prst="rect">
            <a:avLst/>
          </a:prstGeom>
          <a:solidFill>
            <a:srgbClr val="00D4FF">
              <a:alpha val="15000"/>
            </a:srgbClr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6360" y="46085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Chokepoint Layer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858000" y="2103120"/>
            <a:ext cx="2011680" cy="265176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944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D4FF"/>
                </a:solidFill>
              </a:rPr>
              <a:t>PROCESSING PIPELINE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949440" y="2542032"/>
            <a:ext cx="1828800" cy="256032"/>
          </a:xfrm>
          <a:prstGeom prst="rect">
            <a:avLst/>
          </a:prstGeom>
          <a:solidFill>
            <a:srgbClr val="0A1220"/>
          </a:solidFill>
          <a:ln w="6350">
            <a:solidFill>
              <a:srgbClr val="8899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0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Data Ingestion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949440" y="2871216"/>
            <a:ext cx="1828800" cy="256032"/>
          </a:xfrm>
          <a:prstGeom prst="rect">
            <a:avLst/>
          </a:prstGeom>
          <a:solidFill>
            <a:srgbClr val="0A1220"/>
          </a:solidFill>
          <a:ln w="6350">
            <a:solidFill>
              <a:srgbClr val="8899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49440" y="2871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Normalization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949440" y="3200400"/>
            <a:ext cx="1828800" cy="256032"/>
          </a:xfrm>
          <a:prstGeom prst="rect">
            <a:avLst/>
          </a:prstGeom>
          <a:solidFill>
            <a:srgbClr val="0A1220"/>
          </a:solidFill>
          <a:ln w="6350">
            <a:solidFill>
              <a:srgbClr val="0A8FA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8FAB"/>
                </a:solidFill>
              </a:rPr>
              <a:t>Spatial Index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949440" y="3529584"/>
            <a:ext cx="1828800" cy="256032"/>
          </a:xfrm>
          <a:prstGeom prst="rect">
            <a:avLst/>
          </a:prstGeom>
          <a:solidFill>
            <a:srgbClr val="0A122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49440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AI Correlation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949440" y="3858768"/>
            <a:ext cx="1828800" cy="256032"/>
          </a:xfrm>
          <a:prstGeom prst="rect">
            <a:avLst/>
          </a:prstGeom>
          <a:solidFill>
            <a:srgbClr val="0A122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49440" y="3858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00"/>
                </a:solidFill>
              </a:rPr>
              <a:t>Alert Scoring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949440" y="4187952"/>
            <a:ext cx="1828800" cy="256032"/>
          </a:xfrm>
          <a:prstGeom prst="rect">
            <a:avLst/>
          </a:prstGeom>
          <a:solidFill>
            <a:srgbClr val="0A1220"/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49440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F9D"/>
                </a:solidFill>
              </a:rPr>
              <a:t>Broadcast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D6EFD">
              <a:alpha val="20000"/>
            </a:srgbClr>
          </a:solidFill>
          <a:ln w="6350">
            <a:solidFill>
              <a:srgbClr val="0D6E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D6EFD"/>
                </a:solidFill>
              </a:rPr>
              <a:t>TECHNOLOGY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Production-Grade Architecture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320040" y="1417320"/>
            <a:ext cx="1600200" cy="3474720"/>
          </a:xfrm>
          <a:prstGeom prst="rect">
            <a:avLst/>
          </a:prstGeom>
          <a:solidFill>
            <a:srgbClr val="0D1626"/>
          </a:solidFill>
          <a:ln w="10160">
            <a:solidFill>
              <a:srgbClr val="8899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17320"/>
            <a:ext cx="1600200" cy="36576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5087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899AA"/>
                </a:solidFill>
              </a:rPr>
              <a:t>DATA SOURCES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11480" y="187452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OpenSky ADS-B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2350008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350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AIS Telemetry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825496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254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CelesTrak TLE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480" y="3300984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300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NASA FIRMS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3776472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776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USGS Seismic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" y="425196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251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GDELT Events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920240" y="3200400"/>
            <a:ext cx="4572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03120" y="1417320"/>
            <a:ext cx="1600200" cy="3474720"/>
          </a:xfrm>
          <a:prstGeom prst="rect">
            <a:avLst/>
          </a:prstGeom>
          <a:solidFill>
            <a:srgbClr val="0D16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03120" y="1417320"/>
            <a:ext cx="1600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15087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D4FF"/>
                </a:solidFill>
              </a:rPr>
              <a:t>INGESTION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194560" y="187452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94560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Python Workers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194560" y="2350008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94560" y="2350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FastAPI Gateway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194560" y="2825496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4560" y="28254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Kafka Streaming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194560" y="3300984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94560" y="3300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NATS Messaging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194560" y="3776472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4560" y="3776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Rate Limiting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194560" y="425196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94560" y="4251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Error Recovery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703320" y="3200400"/>
            <a:ext cx="4572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86200" y="1417320"/>
            <a:ext cx="1600200" cy="3474720"/>
          </a:xfrm>
          <a:prstGeom prst="rect">
            <a:avLst/>
          </a:prstGeom>
          <a:solidFill>
            <a:srgbClr val="0D1626"/>
          </a:solidFill>
          <a:ln w="10160">
            <a:solidFill>
              <a:srgbClr val="00FF9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86200" y="1417320"/>
            <a:ext cx="160020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86200" y="15087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FF9D"/>
                </a:solidFill>
              </a:rPr>
              <a:t>INTELLIGENCE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977640" y="187452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77640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PostGIS Index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977640" y="2350008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77640" y="2350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TimescaleDB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977640" y="2825496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77640" y="28254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Redis Cache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977640" y="3300984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77640" y="3300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AI Correlator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977640" y="3776472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77640" y="3776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Event Detector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977640" y="425196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77640" y="4251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Anomaly Engine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486400" y="3200400"/>
            <a:ext cx="457200" cy="0"/>
          </a:xfrm>
          <a:prstGeom prst="line">
            <a:avLst/>
          </a:prstGeom>
          <a:noFill/>
          <a:ln w="19050">
            <a:solidFill>
              <a:srgbClr val="00FF9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69280" y="1417320"/>
            <a:ext cx="1600200" cy="3474720"/>
          </a:xfrm>
          <a:prstGeom prst="rect">
            <a:avLst/>
          </a:prstGeom>
          <a:solidFill>
            <a:srgbClr val="0D1626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669280" y="1417320"/>
            <a:ext cx="16002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69280" y="15087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B800"/>
                </a:solidFill>
              </a:rPr>
              <a:t>DELIVERY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760720" y="187452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60720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WebSocket Server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760720" y="2350008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60720" y="2350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REST API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760720" y="2825496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60720" y="28254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Auth Layer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760720" y="3300984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760720" y="3300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CDN Edge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760720" y="3776472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760720" y="3776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Alert Engine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760720" y="425196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760720" y="4251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Audit Logs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269480" y="3200400"/>
            <a:ext cx="457200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52360" y="1417320"/>
            <a:ext cx="1600200" cy="3474720"/>
          </a:xfrm>
          <a:prstGeom prst="rect">
            <a:avLst/>
          </a:prstGeom>
          <a:solidFill>
            <a:srgbClr val="0D1626"/>
          </a:solidFill>
          <a:ln w="10160">
            <a:solidFill>
              <a:srgbClr val="0D6EF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52360" y="1417320"/>
            <a:ext cx="1600200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52360" y="15087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D6EFD"/>
                </a:solidFill>
              </a:rPr>
              <a:t>FRONTEND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7543800" y="187452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543800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CesiumJS Globe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7543800" y="2350008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543800" y="2350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React 18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7543800" y="2825496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543800" y="28254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Zustand State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543800" y="3300984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543800" y="3300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TanStack Query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7543800" y="3776472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543800" y="3776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WebSocket Client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7543800" y="425196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543800" y="4251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Timeline Engine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32004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899AA"/>
                </a:solidFill>
              </a:rPr>
              <a:t>SCALE TARGETS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320040" y="4892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10K+ Aircraft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2560320" y="4892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100K+ Ships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800600" y="4892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500+ Satellites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7040880" y="4892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1B+ Events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0FF9D">
              <a:alpha val="20000"/>
            </a:srgbClr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FF9D"/>
                </a:solidFill>
              </a:rPr>
              <a:t>BUSINESS MODEL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Built for Enterprise Revenue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457200" y="1463040"/>
            <a:ext cx="2606040" cy="3520440"/>
          </a:xfrm>
          <a:prstGeom prst="rect">
            <a:avLst/>
          </a:prstGeom>
          <a:solidFill>
            <a:srgbClr val="0D1626"/>
          </a:solidFill>
          <a:ln w="10160">
            <a:solidFill>
              <a:srgbClr val="0D6E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463040"/>
            <a:ext cx="2606040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6EFD"/>
                </a:solidFill>
              </a:rPr>
              <a:t>ANALYST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$499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57200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/ seat / mo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880360"/>
            <a:ext cx="224028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2926080"/>
            <a:ext cx="91440" cy="914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Core 10 overlays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" y="3246120"/>
            <a:ext cx="91440" cy="914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7-day history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3566160"/>
            <a:ext cx="91440" cy="914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10K entities/layer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" y="3886200"/>
            <a:ext cx="91440" cy="914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Email alerts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" y="4206240"/>
            <a:ext cx="91440" cy="914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API access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4581144"/>
            <a:ext cx="2423160" cy="310896"/>
          </a:xfrm>
          <a:prstGeom prst="rect">
            <a:avLst/>
          </a:prstGeom>
          <a:solidFill>
            <a:srgbClr val="0D6EFD">
              <a:alpha val="20000"/>
            </a:srgbClr>
          </a:solidFill>
          <a:ln w="6350">
            <a:solidFill>
              <a:srgbClr val="0D6E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5811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6EFD"/>
                </a:solidFill>
              </a:rPr>
              <a:t>Journalists · Researchers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46120" y="1280160"/>
            <a:ext cx="2697480" cy="3840480"/>
          </a:xfrm>
          <a:prstGeom prst="rect">
            <a:avLst/>
          </a:prstGeom>
          <a:solidFill>
            <a:srgbClr val="00D4FF">
              <a:alpha val="1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0" y="1325880"/>
            <a:ext cx="2606040" cy="3749040"/>
          </a:xfrm>
          <a:prstGeom prst="rect">
            <a:avLst/>
          </a:prstGeom>
          <a:solidFill>
            <a:srgbClr val="0D1626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1325880"/>
            <a:ext cx="26060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</a:rPr>
              <a:t>PROFESSIONAL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9184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$2,400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329184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/ seat / mo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74720" y="2743200"/>
            <a:ext cx="224028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40" y="278892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0332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All 20 overlays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520440" y="310896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0332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90-day history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520440" y="342900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0332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Unlimited entities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520440" y="374904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0332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AI insight engine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520440" y="406908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0332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WebSocket API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383280" y="4672584"/>
            <a:ext cx="2423160" cy="310896"/>
          </a:xfrm>
          <a:prstGeom prst="rect">
            <a:avLst/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0" y="467258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Hedge Funds · Analysts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126480" y="1463040"/>
            <a:ext cx="2606040" cy="3520440"/>
          </a:xfrm>
          <a:prstGeom prst="rect">
            <a:avLst/>
          </a:prstGeom>
          <a:solidFill>
            <a:srgbClr val="0D1626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26480" y="1463040"/>
            <a:ext cx="260604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2648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B800"/>
                </a:solidFill>
              </a:rPr>
              <a:t>ENTERPRISE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126480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Custom</a:t>
            </a:r>
            <a:endParaRPr lang="en-US" sz="3800" dirty="0"/>
          </a:p>
        </p:txBody>
      </p:sp>
      <p:sp>
        <p:nvSpPr>
          <p:cNvPr id="61" name="Text 59"/>
          <p:cNvSpPr/>
          <p:nvPr/>
        </p:nvSpPr>
        <p:spPr>
          <a:xfrm>
            <a:off x="6126480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contract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309360" y="2880360"/>
            <a:ext cx="224028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55080" y="2926080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Custom overlays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355080" y="3246120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3796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Unlimited history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355080" y="3566160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3796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On-premise deploy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355080" y="3886200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3796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SLA guarantees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355080" y="4206240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3796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Dedicated support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217920" y="4581144"/>
            <a:ext cx="2423160" cy="310896"/>
          </a:xfrm>
          <a:prstGeom prst="rect">
            <a:avLst/>
          </a:prstGeom>
          <a:solidFill>
            <a:srgbClr val="FFB800">
              <a:alpha val="20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17920" y="45811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800"/>
                </a:solidFill>
              </a:rPr>
              <a:t>Governments · Defense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FFB800">
              <a:alpha val="20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B800"/>
                </a:solidFill>
              </a:rPr>
              <a:t>ROADMAP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Mission Timeline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457200" y="1993392"/>
            <a:ext cx="8229600" cy="0"/>
          </a:xfrm>
          <a:prstGeom prst="line">
            <a:avLst/>
          </a:prstGeom>
          <a:noFill/>
          <a:ln w="19050">
            <a:solidFill>
              <a:srgbClr val="1A28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1828800"/>
            <a:ext cx="329184" cy="329184"/>
          </a:xfrm>
          <a:prstGeom prst="ellipse">
            <a:avLst/>
          </a:prstGeom>
          <a:solidFill>
            <a:srgbClr val="00FF9D"/>
          </a:solidFill>
          <a:ln w="19050">
            <a:solidFill>
              <a:srgbClr val="00FF9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423160"/>
            <a:ext cx="1920240" cy="2514600"/>
          </a:xfrm>
          <a:prstGeom prst="rect">
            <a:avLst/>
          </a:prstGeom>
          <a:solidFill>
            <a:srgbClr val="0D1626"/>
          </a:solidFill>
          <a:ln w="10160">
            <a:solidFill>
              <a:srgbClr val="00FF9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423160"/>
            <a:ext cx="192024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487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899AA"/>
                </a:solidFill>
              </a:rPr>
              <a:t>Q1 2025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2715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FF9D"/>
                </a:solidFill>
              </a:rPr>
              <a:t>LAUNCH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3035808"/>
            <a:ext cx="164592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127248"/>
            <a:ext cx="82296" cy="82296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Core 6 overlays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529584"/>
            <a:ext cx="82296" cy="82296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Globe renderer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931920"/>
            <a:ext cx="82296" cy="82296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3895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Backend streaming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4334256"/>
            <a:ext cx="82296" cy="82296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Beta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FF9D"/>
                </a:solidFill>
              </a:rPr>
              <a:t>✓ COMPLETE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182112" y="1828800"/>
            <a:ext cx="329184" cy="329184"/>
          </a:xfrm>
          <a:prstGeom prst="ellipse">
            <a:avLst/>
          </a:prstGeom>
          <a:solidFill>
            <a:srgbClr val="00D4F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42032" y="2423160"/>
            <a:ext cx="1920240" cy="2514600"/>
          </a:xfrm>
          <a:prstGeom prst="rect">
            <a:avLst/>
          </a:prstGeom>
          <a:solidFill>
            <a:srgbClr val="0D16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42032" y="2423160"/>
            <a:ext cx="19202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2487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899AA"/>
                </a:solidFill>
              </a:rPr>
              <a:t>Q2 2025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542032" y="2715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D4FF"/>
                </a:solidFill>
              </a:rPr>
              <a:t>INTELLIGENCE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679192" y="3035808"/>
            <a:ext cx="164592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24912" y="3127248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89504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AI insight engine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24912" y="3529584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89504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20 overlays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24912" y="3931920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89504" y="3895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Enterprise API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24912" y="4334256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9504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10 paying clients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42032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FF9D"/>
                </a:solidFill>
              </a:rPr>
              <a:t>✓ COMPLETE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266944" y="1828800"/>
            <a:ext cx="329184" cy="329184"/>
          </a:xfrm>
          <a:prstGeom prst="ellipse">
            <a:avLst/>
          </a:prstGeom>
          <a:solidFill>
            <a:srgbClr val="0D1626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26864" y="2423160"/>
            <a:ext cx="1920240" cy="2514600"/>
          </a:xfrm>
          <a:prstGeom prst="rect">
            <a:avLst/>
          </a:prstGeom>
          <a:solidFill>
            <a:srgbClr val="0D1626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26864" y="2423160"/>
            <a:ext cx="192024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26864" y="2487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899AA"/>
                </a:solidFill>
              </a:rPr>
              <a:t>Q3 2025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626864" y="2715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B800"/>
                </a:solidFill>
              </a:rPr>
              <a:t>SCALE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64024" y="3035808"/>
            <a:ext cx="164592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09744" y="3127248"/>
            <a:ext cx="82296" cy="82296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74336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Anomaly detection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09744" y="3529584"/>
            <a:ext cx="82296" cy="82296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74336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Mobile app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09744" y="3931920"/>
            <a:ext cx="82296" cy="82296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74336" y="3895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SOC2 compliance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09744" y="4334256"/>
            <a:ext cx="82296" cy="82296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74336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50 clients target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626864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899AA"/>
                </a:solidFill>
              </a:rPr>
              <a:t>UPCOMING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351776" y="1828800"/>
            <a:ext cx="329184" cy="329184"/>
          </a:xfrm>
          <a:prstGeom prst="ellipse">
            <a:avLst/>
          </a:prstGeom>
          <a:solidFill>
            <a:srgbClr val="0D1626"/>
          </a:solidFill>
          <a:ln w="19050">
            <a:solidFill>
              <a:srgbClr val="0D6EF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711696" y="2423160"/>
            <a:ext cx="1920240" cy="2514600"/>
          </a:xfrm>
          <a:prstGeom prst="rect">
            <a:avLst/>
          </a:prstGeom>
          <a:solidFill>
            <a:srgbClr val="0D1626"/>
          </a:solidFill>
          <a:ln w="10160">
            <a:solidFill>
              <a:srgbClr val="0D6EF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711696" y="2423160"/>
            <a:ext cx="1920240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11696" y="2487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899AA"/>
                </a:solidFill>
              </a:rPr>
              <a:t>Q4 2025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711696" y="2715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6EFD"/>
                </a:solidFill>
              </a:rPr>
              <a:t>ENTERPRISE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848856" y="3035808"/>
            <a:ext cx="164592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94576" y="3127248"/>
            <a:ext cx="82296" cy="82296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59168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Gov contracts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894576" y="3529584"/>
            <a:ext cx="82296" cy="82296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059168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Custom deploys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894576" y="3931920"/>
            <a:ext cx="82296" cy="82296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59168" y="3895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Partner integrations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894576" y="4334256"/>
            <a:ext cx="82296" cy="82296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059168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$5M ARR target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711696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899AA"/>
                </a:solidFill>
              </a:rPr>
              <a:t>UPCOMING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3200400" y="182880"/>
            <a:ext cx="5486400" cy="54864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D4FF"/>
                </a:solidFill>
              </a:rPr>
              <a:t>THE ASK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5943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Join the Intelligence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Revolution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457200" y="2148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CDD8"/>
                </a:solidFill>
              </a:rPr>
              <a:t>We are raising a $4M Seed round to scale PolyMatic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0CDD8"/>
                </a:solidFill>
              </a:rPr>
              <a:t>into the world's leading commercial OSINT platform.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2926080"/>
            <a:ext cx="4572000" cy="329184"/>
          </a:xfrm>
          <a:prstGeom prst="rect">
            <a:avLst/>
          </a:prstGeom>
          <a:solidFill>
            <a:srgbClr val="0D1626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2926080"/>
            <a:ext cx="1828800" cy="329184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9260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40%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88720" y="29260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DD8"/>
                </a:solidFill>
              </a:rPr>
              <a:t>Engineering &amp; Infrastructure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3328416"/>
            <a:ext cx="4572000" cy="329184"/>
          </a:xfrm>
          <a:prstGeom prst="rect">
            <a:avLst/>
          </a:prstGeom>
          <a:solidFill>
            <a:srgbClr val="0D1626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3328416"/>
            <a:ext cx="1143000" cy="329184"/>
          </a:xfrm>
          <a:prstGeom prst="rect">
            <a:avLst/>
          </a:prstGeom>
          <a:solidFill>
            <a:srgbClr val="00FF9D">
              <a:alpha val="25000"/>
            </a:srgbClr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32841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D"/>
                </a:solidFill>
              </a:rPr>
              <a:t>25%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88720" y="33284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DD8"/>
                </a:solidFill>
              </a:rPr>
              <a:t>AI / Data Science Team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730752"/>
            <a:ext cx="4572000" cy="329184"/>
          </a:xfrm>
          <a:prstGeom prst="rect">
            <a:avLst/>
          </a:prstGeom>
          <a:solidFill>
            <a:srgbClr val="0D1626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730752"/>
            <a:ext cx="914400" cy="329184"/>
          </a:xfrm>
          <a:prstGeom prst="rect">
            <a:avLst/>
          </a:prstGeom>
          <a:solidFill>
            <a:srgbClr val="FFB800">
              <a:alpha val="25000"/>
            </a:srgbClr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37307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20%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88720" y="37307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DD8"/>
                </a:solidFill>
              </a:rPr>
              <a:t>Sales &amp; Enterprise GTM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" y="4133088"/>
            <a:ext cx="4572000" cy="329184"/>
          </a:xfrm>
          <a:prstGeom prst="rect">
            <a:avLst/>
          </a:prstGeom>
          <a:solidFill>
            <a:srgbClr val="0D1626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7200" y="4133088"/>
            <a:ext cx="685800" cy="329184"/>
          </a:xfrm>
          <a:prstGeom prst="rect">
            <a:avLst/>
          </a:prstGeom>
          <a:solidFill>
            <a:srgbClr val="0D6EFD">
              <a:alpha val="25000"/>
            </a:srgbClr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41330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FD"/>
                </a:solidFill>
              </a:rPr>
              <a:t>15%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188720" y="41330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DD8"/>
                </a:solidFill>
              </a:rPr>
              <a:t>Operations &amp; Compliance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303520" y="1828800"/>
            <a:ext cx="1920240" cy="1097280"/>
          </a:xfrm>
          <a:prstGeom prst="rect">
            <a:avLst/>
          </a:prstGeom>
          <a:solidFill>
            <a:srgbClr val="0D16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303520" y="1828800"/>
            <a:ext cx="19202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349240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$4M</a:t>
            </a:r>
            <a:endParaRPr lang="en-US" sz="3200" dirty="0"/>
          </a:p>
        </p:txBody>
      </p:sp>
      <p:sp>
        <p:nvSpPr>
          <p:cNvPr id="41" name="Text 38"/>
          <p:cNvSpPr/>
          <p:nvPr/>
        </p:nvSpPr>
        <p:spPr>
          <a:xfrm>
            <a:off x="534924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99AA"/>
                </a:solidFill>
              </a:rPr>
              <a:t>SEED TARGET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040880" y="1828800"/>
            <a:ext cx="1920240" cy="1097280"/>
          </a:xfrm>
          <a:prstGeom prst="rect">
            <a:avLst/>
          </a:prstGeom>
          <a:solidFill>
            <a:srgbClr val="0D1626"/>
          </a:solidFill>
          <a:ln w="10160">
            <a:solidFill>
              <a:srgbClr val="00FF9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40880" y="1828800"/>
            <a:ext cx="192024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086600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9D"/>
                </a:solidFill>
              </a:rPr>
              <a:t>18Mo</a:t>
            </a:r>
            <a:endParaRPr lang="en-US" sz="3200" dirty="0"/>
          </a:p>
        </p:txBody>
      </p:sp>
      <p:sp>
        <p:nvSpPr>
          <p:cNvPr id="45" name="Text 42"/>
          <p:cNvSpPr/>
          <p:nvPr/>
        </p:nvSpPr>
        <p:spPr>
          <a:xfrm>
            <a:off x="708660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99AA"/>
                </a:solidFill>
              </a:rPr>
              <a:t>TO ARR POSITIVE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5303520" y="3063240"/>
            <a:ext cx="1920240" cy="1097280"/>
          </a:xfrm>
          <a:prstGeom prst="rect">
            <a:avLst/>
          </a:prstGeom>
          <a:solidFill>
            <a:srgbClr val="0D1626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303520" y="3063240"/>
            <a:ext cx="192024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34924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800"/>
                </a:solidFill>
              </a:rPr>
              <a:t>$5M</a:t>
            </a:r>
            <a:endParaRPr lang="en-US" sz="3200" dirty="0"/>
          </a:p>
        </p:txBody>
      </p:sp>
      <p:sp>
        <p:nvSpPr>
          <p:cNvPr id="49" name="Text 46"/>
          <p:cNvSpPr/>
          <p:nvPr/>
        </p:nvSpPr>
        <p:spPr>
          <a:xfrm>
            <a:off x="534924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99AA"/>
                </a:solidFill>
              </a:rPr>
              <a:t>ARR TARGET YR 1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7040880" y="3063240"/>
            <a:ext cx="1920240" cy="1097280"/>
          </a:xfrm>
          <a:prstGeom prst="rect">
            <a:avLst/>
          </a:prstGeom>
          <a:solidFill>
            <a:srgbClr val="0D1626"/>
          </a:solidFill>
          <a:ln w="10160">
            <a:solidFill>
              <a:srgbClr val="0D6EF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040880" y="3063240"/>
            <a:ext cx="1920240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08660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6EFD"/>
                </a:solidFill>
              </a:rPr>
              <a:t>3×</a:t>
            </a:r>
            <a:endParaRPr lang="en-US" sz="3200" dirty="0"/>
          </a:p>
        </p:txBody>
      </p:sp>
      <p:sp>
        <p:nvSpPr>
          <p:cNvPr id="53" name="Text 50"/>
          <p:cNvSpPr/>
          <p:nvPr/>
        </p:nvSpPr>
        <p:spPr>
          <a:xfrm>
            <a:off x="708660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99AA"/>
                </a:solidFill>
              </a:rPr>
              <a:t>INDUSTRY MARGINS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contact@polymatic.io  ·  polymatic.io/investor-deck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FFB800">
              <a:alpha val="20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B800"/>
                </a:solidFill>
              </a:rPr>
              <a:t>NEW CATEGORY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6692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Market Intelligence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Layers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14400" y="1874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0CDD8"/>
                </a:solidFill>
              </a:rPr>
              <a:t>PolyMatic now fuses commodity markets, supply chain telemetry, and geospatial OSINT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C0CDD8"/>
                </a:solidFill>
              </a:rPr>
              <a:t>into a single macro intelligence console — built for traders, funds, and analysts.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1920240" cy="2103120"/>
          </a:xfrm>
          <a:prstGeom prst="rect">
            <a:avLst/>
          </a:prstGeom>
          <a:solidFill>
            <a:srgbClr val="0D1626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743200"/>
            <a:ext cx="192024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880360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3429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B800"/>
                </a:solidFill>
              </a:rPr>
              <a:t>COMMODITY PRICES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8640" y="3794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Real-time feeds · Heatmaps · Alerts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42032" y="2743200"/>
            <a:ext cx="1920240" cy="2103120"/>
          </a:xfrm>
          <a:prstGeom prst="rect">
            <a:avLst/>
          </a:prstGeom>
          <a:solidFill>
            <a:srgbClr val="0D1626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42032" y="2743200"/>
            <a:ext cx="192024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2880360"/>
            <a:ext cx="457200" cy="4572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542032" y="3429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FF9D"/>
                </a:solidFill>
              </a:rPr>
              <a:t>SUPPLY CHAINS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2633472" y="3794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Mines · Smelters · Export flows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4626864" y="2743200"/>
            <a:ext cx="1920240" cy="2103120"/>
          </a:xfrm>
          <a:prstGeom prst="rect">
            <a:avLst/>
          </a:prstGeom>
          <a:solidFill>
            <a:srgbClr val="0D162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626864" y="2743200"/>
            <a:ext cx="19202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2880360"/>
            <a:ext cx="457200" cy="4572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626864" y="3429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D4FF"/>
                </a:solidFill>
              </a:rPr>
              <a:t>GEOSPATIAL SIGNALS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4718304" y="3794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SAR · OSINT · Satellite imagery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6711696" y="2743200"/>
            <a:ext cx="1920240" cy="2103120"/>
          </a:xfrm>
          <a:prstGeom prst="rect">
            <a:avLst/>
          </a:prstGeom>
          <a:solidFill>
            <a:srgbClr val="0D1626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711696" y="2743200"/>
            <a:ext cx="1920240" cy="3657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2880360"/>
            <a:ext cx="457200" cy="4572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711696" y="3429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3B5C"/>
                </a:solidFill>
              </a:rPr>
              <a:t>AI PRICE SHOCKS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6803136" y="3794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Anomaly detection · Confidence score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220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B800"/>
                </a:solidFill>
              </a:rPr>
              <a:t>TARGET BUYERS:  Hedge Funds  ·  Commodity Desks  ·  Retail Traders  ·  Macro Investors  ·  Geopolitical Analysts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FFB800">
              <a:alpha val="20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B800"/>
                </a:solidFill>
              </a:rPr>
              <a:t>OVERLAYS 21–22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Commodity Price Heatmap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&amp; Precious Metals Intelligence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365760" y="1691640"/>
            <a:ext cx="4206240" cy="3200400"/>
          </a:xfrm>
          <a:prstGeom prst="rect">
            <a:avLst/>
          </a:prstGeom>
          <a:solidFill>
            <a:srgbClr val="0D1626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691640"/>
            <a:ext cx="420624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8013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B800"/>
                </a:solidFill>
              </a:rPr>
              <a:t>OVERLAY 21 — COMMODITY HEATMAP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2148840"/>
            <a:ext cx="1920240" cy="548640"/>
          </a:xfrm>
          <a:prstGeom prst="rect">
            <a:avLst/>
          </a:prstGeom>
          <a:solidFill>
            <a:srgbClr val="00FF9D">
              <a:alpha val="12000"/>
            </a:srgbClr>
          </a:solidFill>
          <a:ln w="7620">
            <a:solidFill>
              <a:srgbClr val="00FF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1854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WTI Crude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6072" y="24231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Middle East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874520" y="22585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+2.4%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0" y="2148840"/>
            <a:ext cx="1920240" cy="548640"/>
          </a:xfrm>
          <a:prstGeom prst="rect">
            <a:avLst/>
          </a:prstGeom>
          <a:solidFill>
            <a:srgbClr val="00FF9D">
              <a:alpha val="12000"/>
            </a:srgbClr>
          </a:solidFill>
          <a:ln w="7620">
            <a:solidFill>
              <a:srgbClr val="00FF9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33472" y="21854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Brent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33472" y="24231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North Sea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931920" y="22585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+1.9%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2807208"/>
            <a:ext cx="1920240" cy="548640"/>
          </a:xfrm>
          <a:prstGeom prst="rect">
            <a:avLst/>
          </a:prstGeom>
          <a:solidFill>
            <a:srgbClr val="FF3B5C">
              <a:alpha val="12000"/>
            </a:srgbClr>
          </a:solidFill>
          <a:ln w="7620">
            <a:solidFill>
              <a:srgbClr val="FF3B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" y="28437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Nat Gas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6072" y="3081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Russia / US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874520" y="29169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3B5C"/>
                </a:solidFill>
              </a:rPr>
              <a:t>-3.1%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0" y="2807208"/>
            <a:ext cx="1920240" cy="548640"/>
          </a:xfrm>
          <a:prstGeom prst="rect">
            <a:avLst/>
          </a:prstGeom>
          <a:solidFill>
            <a:srgbClr val="FFB800">
              <a:alpha val="12000"/>
            </a:srgbClr>
          </a:solidFill>
          <a:ln w="7620">
            <a:solidFill>
              <a:srgbClr val="FFB8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33472" y="28437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633472" y="3081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Australia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931920" y="29169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800"/>
                </a:solidFill>
              </a:rPr>
              <a:t>+0.8%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3465576"/>
            <a:ext cx="1920240" cy="548640"/>
          </a:xfrm>
          <a:prstGeom prst="rect">
            <a:avLst/>
          </a:prstGeom>
          <a:solidFill>
            <a:srgbClr val="00FF9D">
              <a:alpha val="12000"/>
            </a:srgbClr>
          </a:solidFill>
          <a:ln w="7620">
            <a:solidFill>
              <a:srgbClr val="00FF9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" y="35021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Gold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6072" y="3739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S. Africa / AU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874520" y="35753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+0.4%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560320" y="3465576"/>
            <a:ext cx="1920240" cy="548640"/>
          </a:xfrm>
          <a:prstGeom prst="rect">
            <a:avLst/>
          </a:prstGeom>
          <a:solidFill>
            <a:srgbClr val="FF3B5C">
              <a:alpha val="12000"/>
            </a:srgbClr>
          </a:solidFill>
          <a:ln w="7620">
            <a:solidFill>
              <a:srgbClr val="FF3B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33472" y="35021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Silver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633472" y="37398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Mexico / Peru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931920" y="35753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3B5C"/>
                </a:solidFill>
              </a:rPr>
              <a:t>-1.2%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" y="4123944"/>
            <a:ext cx="1920240" cy="548640"/>
          </a:xfrm>
          <a:prstGeom prst="rect">
            <a:avLst/>
          </a:prstGeom>
          <a:solidFill>
            <a:srgbClr val="00FF9D">
              <a:alpha val="12000"/>
            </a:srgbClr>
          </a:solidFill>
          <a:ln w="7620">
            <a:solidFill>
              <a:srgbClr val="00FF9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" y="4160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Copper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76072" y="43982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Chile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874520" y="4233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+5.7%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560320" y="4123944"/>
            <a:ext cx="1920240" cy="548640"/>
          </a:xfrm>
          <a:prstGeom prst="rect">
            <a:avLst/>
          </a:prstGeom>
          <a:solidFill>
            <a:srgbClr val="FF3B5C">
              <a:alpha val="12000"/>
            </a:srgbClr>
          </a:solidFill>
          <a:ln w="7620">
            <a:solidFill>
              <a:srgbClr val="FF3B5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33472" y="4160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Lithium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633472" y="43982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Chile / Arg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931920" y="4233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3B5C"/>
                </a:solidFill>
              </a:rPr>
              <a:t>-2.3%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1691640"/>
            <a:ext cx="4023360" cy="3200400"/>
          </a:xfrm>
          <a:prstGeom prst="rect">
            <a:avLst/>
          </a:prstGeom>
          <a:solidFill>
            <a:srgbClr val="0D16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54880" y="1691640"/>
            <a:ext cx="40233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1801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D4FF"/>
                </a:solidFill>
              </a:rPr>
              <a:t>OVERLAY 22 — PRECIOUS METALS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892040" y="2148840"/>
            <a:ext cx="3749040" cy="566928"/>
          </a:xfrm>
          <a:prstGeom prst="rect">
            <a:avLst/>
          </a:prstGeom>
          <a:solidFill>
            <a:srgbClr val="0A1220"/>
          </a:solidFill>
          <a:ln w="7620">
            <a:solidFill>
              <a:srgbClr val="FFB8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92040" y="2148840"/>
            <a:ext cx="45720" cy="56692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10912" y="22037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800"/>
                </a:solidFill>
              </a:rPr>
              <a:t>GOLD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010912" y="24505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$2,341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00800" y="22768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00"/>
                </a:solidFill>
              </a:rPr>
              <a:t>+0.4%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223760" y="2240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Mine disruption: Mali operations halted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892040" y="2825496"/>
            <a:ext cx="3749040" cy="566928"/>
          </a:xfrm>
          <a:prstGeom prst="rect">
            <a:avLst/>
          </a:prstGeom>
          <a:solidFill>
            <a:srgbClr val="0A1220"/>
          </a:solidFill>
          <a:ln w="7620">
            <a:solidFill>
              <a:srgbClr val="8899A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92040" y="2825496"/>
            <a:ext cx="45720" cy="56692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10912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899AA"/>
                </a:solidFill>
              </a:rPr>
              <a:t>SILVER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010912" y="31272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$27.82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400800" y="2953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99AA"/>
                </a:solidFill>
              </a:rPr>
              <a:t>-1.2%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223760" y="291693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Mexico output steady. Demand weak.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892040" y="3502152"/>
            <a:ext cx="3749040" cy="566928"/>
          </a:xfrm>
          <a:prstGeom prst="rect">
            <a:avLst/>
          </a:prstGeom>
          <a:solidFill>
            <a:srgbClr val="0A1220"/>
          </a:solidFill>
          <a:ln w="7620">
            <a:solidFill>
              <a:srgbClr val="00D4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92040" y="3502152"/>
            <a:ext cx="45720" cy="5669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10912" y="35570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D4FF"/>
                </a:solidFill>
              </a:rPr>
              <a:t>PLATINUM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010912" y="38039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$964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400800" y="3630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+2.1%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7223760" y="35935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SA strike risk — supply premium rising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892040" y="4178808"/>
            <a:ext cx="3749040" cy="566928"/>
          </a:xfrm>
          <a:prstGeom prst="rect">
            <a:avLst/>
          </a:prstGeom>
          <a:solidFill>
            <a:srgbClr val="0A1220"/>
          </a:solidFill>
          <a:ln w="7620">
            <a:solidFill>
              <a:srgbClr val="00FF9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92040" y="4178808"/>
            <a:ext cx="45720" cy="56692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10912" y="42336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9D"/>
                </a:solidFill>
              </a:rPr>
              <a:t>PALLADIUM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010912" y="44805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$1,022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400800" y="43068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+3.8%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7223760" y="42702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Auto catalyst demand surging Q3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0FF9D">
              <a:alpha val="20000"/>
            </a:srgbClr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FF9D"/>
                </a:solidFill>
              </a:rPr>
              <a:t>OVERLAYS 23–24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Industrial Metals Supply Chain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&amp; Rare Earth Intelligence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365760" y="1691640"/>
            <a:ext cx="4206240" cy="3200400"/>
          </a:xfrm>
          <a:prstGeom prst="rect">
            <a:avLst/>
          </a:prstGeom>
          <a:solidFill>
            <a:srgbClr val="0D1626"/>
          </a:solidFill>
          <a:ln w="10160">
            <a:solidFill>
              <a:srgbClr val="00FF9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691640"/>
            <a:ext cx="420624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8013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FF9D"/>
                </a:solidFill>
              </a:rPr>
              <a:t>OVERLAY 23 — INDUSTRIAL METALS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2121408"/>
            <a:ext cx="3931920" cy="438912"/>
          </a:xfrm>
          <a:prstGeom prst="rect">
            <a:avLst/>
          </a:prstGeom>
          <a:solidFill>
            <a:srgbClr val="0A122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121408"/>
            <a:ext cx="45720" cy="43891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157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800"/>
                </a:solidFill>
              </a:rPr>
              <a:t>COPPER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" y="23500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$9,842/t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03120" y="22128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+5.7%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22128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⚠ Mine shutdown — Escondida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2920" y="2642616"/>
            <a:ext cx="3931920" cy="438912"/>
          </a:xfrm>
          <a:prstGeom prst="rect">
            <a:avLst/>
          </a:prstGeom>
          <a:solidFill>
            <a:srgbClr val="0A1220"/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2642616"/>
            <a:ext cx="45720" cy="438912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6791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9D"/>
                </a:solidFill>
              </a:rPr>
              <a:t>ALUMINUM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" y="28712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$2,401/t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03120" y="27340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D"/>
                </a:solidFill>
              </a:rPr>
              <a:t>+1.2%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34640" y="273405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✓ Normal supply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2920" y="3163824"/>
            <a:ext cx="3931920" cy="438912"/>
          </a:xfrm>
          <a:prstGeom prst="rect">
            <a:avLst/>
          </a:prstGeom>
          <a:solidFill>
            <a:srgbClr val="0A1220"/>
          </a:solidFill>
          <a:ln w="6350">
            <a:solidFill>
              <a:srgbClr val="FF3B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3163824"/>
            <a:ext cx="45720" cy="438912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200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3B5C"/>
                </a:solidFill>
              </a:rPr>
              <a:t>NICKEL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0080" y="33924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$17,240/t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03120" y="325526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B5C"/>
                </a:solidFill>
              </a:rPr>
              <a:t>-2.8%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834640" y="32552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⚠ Indonesia export ban risk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2920" y="3685032"/>
            <a:ext cx="3931920" cy="438912"/>
          </a:xfrm>
          <a:prstGeom prst="rect">
            <a:avLst/>
          </a:prstGeom>
          <a:solidFill>
            <a:srgbClr val="0A1220"/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3685032"/>
            <a:ext cx="45720" cy="438912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3721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9D"/>
                </a:solidFill>
              </a:rPr>
              <a:t>ZINC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40080" y="3913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$2,891/t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103120" y="37764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D"/>
                </a:solidFill>
              </a:rPr>
              <a:t>+0.6%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834640" y="37764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✓ Stable — Europe smelters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02920" y="4206240"/>
            <a:ext cx="3931920" cy="438912"/>
          </a:xfrm>
          <a:prstGeom prst="rect">
            <a:avLst/>
          </a:prstGeom>
          <a:solidFill>
            <a:srgbClr val="0A122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" y="4206240"/>
            <a:ext cx="45720" cy="43891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42428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STEEL HRC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0080" y="4434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$714/t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103120" y="4297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-1.4%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834640" y="42976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◉ China output watch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754880" y="1691640"/>
            <a:ext cx="4023360" cy="3200400"/>
          </a:xfrm>
          <a:prstGeom prst="rect">
            <a:avLst/>
          </a:prstGeom>
          <a:solidFill>
            <a:srgbClr val="0D16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1691640"/>
            <a:ext cx="40233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1801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D4FF"/>
                </a:solidFill>
              </a:rPr>
              <a:t>OVERLAY 24 — RARE EARTH ELEMENTS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892040" y="2121408"/>
            <a:ext cx="3749040" cy="438912"/>
          </a:xfrm>
          <a:prstGeom prst="rect">
            <a:avLst/>
          </a:prstGeom>
          <a:solidFill>
            <a:srgbClr val="0A1220"/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92040" y="2121408"/>
            <a:ext cx="45720" cy="438912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0" y="2157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9D"/>
                </a:solidFill>
              </a:rPr>
              <a:t>LITHIUM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029200" y="23591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$13,500/t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263640" y="21671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Chile · Argentina · Aus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263640" y="23591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F9D"/>
                </a:solidFill>
              </a:rPr>
              <a:t>EV Batteries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772400" y="2212848"/>
            <a:ext cx="822960" cy="256032"/>
          </a:xfrm>
          <a:prstGeom prst="rect">
            <a:avLst/>
          </a:prstGeom>
          <a:solidFill>
            <a:srgbClr val="00FF9D">
              <a:alpha val="15000"/>
            </a:srgbClr>
          </a:solidFill>
          <a:ln w="5080">
            <a:solidFill>
              <a:srgbClr val="00FF9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72400" y="2212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FF9D"/>
                </a:solidFill>
              </a:rPr>
              <a:t>EV CHAIN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4892040" y="2642616"/>
            <a:ext cx="3749040" cy="438912"/>
          </a:xfrm>
          <a:prstGeom prst="rect">
            <a:avLst/>
          </a:prstGeom>
          <a:solidFill>
            <a:srgbClr val="0A1220"/>
          </a:solidFill>
          <a:ln w="6350">
            <a:solidFill>
              <a:srgbClr val="0D6EF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92040" y="2642616"/>
            <a:ext cx="45720" cy="43891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0" y="26791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6EFD"/>
                </a:solidFill>
              </a:rPr>
              <a:t>COBALT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029200" y="28803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$32,800/t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263640" y="26883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DRC dominates 70%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263640" y="28803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6EFD"/>
                </a:solidFill>
              </a:rPr>
              <a:t>Battery Cathodes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7772400" y="2734056"/>
            <a:ext cx="822960" cy="256032"/>
          </a:xfrm>
          <a:prstGeom prst="rect">
            <a:avLst/>
          </a:prstGeom>
          <a:solidFill>
            <a:srgbClr val="0D6EFD">
              <a:alpha val="15000"/>
            </a:srgbClr>
          </a:solidFill>
          <a:ln w="5080">
            <a:solidFill>
              <a:srgbClr val="0D6EF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72400" y="27340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6EFD"/>
                </a:solidFill>
              </a:rPr>
              <a:t>EV CHAIN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4892040" y="3163824"/>
            <a:ext cx="3749040" cy="438912"/>
          </a:xfrm>
          <a:prstGeom prst="rect">
            <a:avLst/>
          </a:prstGeom>
          <a:solidFill>
            <a:srgbClr val="0A122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92040" y="3163824"/>
            <a:ext cx="45720" cy="43891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29200" y="3200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800"/>
                </a:solidFill>
              </a:rPr>
              <a:t>NEODYMIUM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029200" y="34015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$68/kg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263640" y="3209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China 85% supply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263640" y="3401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B800"/>
                </a:solidFill>
              </a:rPr>
              <a:t>EV Motors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772400" y="3255264"/>
            <a:ext cx="822960" cy="256032"/>
          </a:xfrm>
          <a:prstGeom prst="rect">
            <a:avLst/>
          </a:prstGeom>
          <a:solidFill>
            <a:srgbClr val="FFB800">
              <a:alpha val="15000"/>
            </a:srgbClr>
          </a:solidFill>
          <a:ln w="5080">
            <a:solidFill>
              <a:srgbClr val="FFB8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772400" y="32552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B800"/>
                </a:solidFill>
              </a:rPr>
              <a:t>EV CHAIN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4892040" y="3685032"/>
            <a:ext cx="3749040" cy="438912"/>
          </a:xfrm>
          <a:prstGeom prst="rect">
            <a:avLst/>
          </a:prstGeom>
          <a:solidFill>
            <a:srgbClr val="0A1220"/>
          </a:solidFill>
          <a:ln w="6350">
            <a:solidFill>
              <a:srgbClr val="FF3B5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92040" y="3685032"/>
            <a:ext cx="45720" cy="438912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29200" y="3721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3B5C"/>
                </a:solidFill>
              </a:rPr>
              <a:t>GALLIUM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029200" y="39227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$222/kg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263640" y="37307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China export controls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6263640" y="39227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3B5C"/>
                </a:solidFill>
              </a:rPr>
              <a:t>Semiconductors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772400" y="3776472"/>
            <a:ext cx="822960" cy="256032"/>
          </a:xfrm>
          <a:prstGeom prst="rect">
            <a:avLst/>
          </a:prstGeom>
          <a:solidFill>
            <a:srgbClr val="FF3B5C">
              <a:alpha val="15000"/>
            </a:srgbClr>
          </a:solidFill>
          <a:ln w="5080">
            <a:solidFill>
              <a:srgbClr val="FF3B5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72400" y="37764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3B5C"/>
                </a:solidFill>
              </a:rPr>
              <a:t>EV CHAIN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4892040" y="4206240"/>
            <a:ext cx="3749040" cy="438912"/>
          </a:xfrm>
          <a:prstGeom prst="rect">
            <a:avLst/>
          </a:prstGeom>
          <a:solidFill>
            <a:srgbClr val="0A122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92040" y="4206240"/>
            <a:ext cx="45720" cy="43891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029200" y="42428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TUNGSTEN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5029200" y="44439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$35/kg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263640" y="4251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China · Russia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263640" y="44439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Aerospace/Def.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7772400" y="4297680"/>
            <a:ext cx="822960" cy="256032"/>
          </a:xfrm>
          <a:prstGeom prst="rect">
            <a:avLst/>
          </a:prstGeom>
          <a:solidFill>
            <a:srgbClr val="00D4FF">
              <a:alpha val="15000"/>
            </a:srgbClr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772400" y="4297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FF"/>
                </a:solidFill>
              </a:rPr>
              <a:t>EV CHAIN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0FF9D">
              <a:alpha val="20000"/>
            </a:srgbClr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FF9D"/>
                </a:solidFill>
              </a:rPr>
              <a:t>OVERLAY 25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Global Agricultural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Commodities Dashboard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7200" y="1664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CDD8"/>
                </a:solidFill>
              </a:rPr>
              <a:t>Track prices, harvest cycles, and weather disruptions across the global food supply.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148840"/>
            <a:ext cx="1920240" cy="822960"/>
          </a:xfrm>
          <a:prstGeom prst="rect">
            <a:avLst/>
          </a:prstGeom>
          <a:solidFill>
            <a:srgbClr val="0D1626"/>
          </a:solidFill>
          <a:ln w="8890">
            <a:solidFill>
              <a:srgbClr val="FFB8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148840"/>
            <a:ext cx="192024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2219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800"/>
                </a:solidFill>
              </a:rPr>
              <a:t>WHEAT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4414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$5.84/bu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83080" y="24414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800"/>
                </a:solidFill>
              </a:rPr>
              <a:t>+8.2%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2679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⚠ Black Sea disruption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1920240" cy="822960"/>
          </a:xfrm>
          <a:prstGeom prst="rect">
            <a:avLst/>
          </a:prstGeom>
          <a:solidFill>
            <a:srgbClr val="0D1626"/>
          </a:solidFill>
          <a:ln w="8890">
            <a:solidFill>
              <a:srgbClr val="00FF9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154680"/>
            <a:ext cx="192024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27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9D"/>
                </a:solidFill>
              </a:rPr>
              <a:t>CORN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4472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$4.51/bu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83080" y="34472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-1.4%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685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✓ US crop estimate strong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5760" y="4160520"/>
            <a:ext cx="1920240" cy="822960"/>
          </a:xfrm>
          <a:prstGeom prst="rect">
            <a:avLst/>
          </a:prstGeom>
          <a:solidFill>
            <a:srgbClr val="0D1626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160520"/>
            <a:ext cx="19202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2336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D4FF"/>
                </a:solidFill>
              </a:rPr>
              <a:t>SOYBEANS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4531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$11.92/bu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783080" y="44531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+2.7%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690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◉ Brazil drought risk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468880" y="2148840"/>
            <a:ext cx="1920240" cy="822960"/>
          </a:xfrm>
          <a:prstGeom prst="rect">
            <a:avLst/>
          </a:prstGeom>
          <a:solidFill>
            <a:srgbClr val="0D1626"/>
          </a:solidFill>
          <a:ln w="8890">
            <a:solidFill>
              <a:srgbClr val="FF3B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2148840"/>
            <a:ext cx="1920240" cy="3657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22219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3B5C"/>
                </a:solidFill>
              </a:rPr>
              <a:t>RICE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60320" y="24414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$18.40/cwt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86200" y="24414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3B5C"/>
                </a:solidFill>
              </a:rPr>
              <a:t>+5.1%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60320" y="2679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⚠ India export restrictions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468880" y="3154680"/>
            <a:ext cx="1920240" cy="822960"/>
          </a:xfrm>
          <a:prstGeom prst="rect">
            <a:avLst/>
          </a:prstGeom>
          <a:solidFill>
            <a:srgbClr val="0D1626"/>
          </a:solidFill>
          <a:ln w="8890">
            <a:solidFill>
              <a:srgbClr val="FFB8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68880" y="3154680"/>
            <a:ext cx="192024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0" y="32278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800"/>
                </a:solidFill>
              </a:rPr>
              <a:t>COFFEE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60320" y="34472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$2.24/lb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886200" y="34472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800"/>
                </a:solidFill>
              </a:rPr>
              <a:t>+3.8%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560320" y="3685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⚠ Vietnam deficit forecast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468880" y="4160520"/>
            <a:ext cx="1920240" cy="822960"/>
          </a:xfrm>
          <a:prstGeom prst="rect">
            <a:avLst/>
          </a:prstGeom>
          <a:solidFill>
            <a:srgbClr val="0D1626"/>
          </a:solidFill>
          <a:ln w="8890">
            <a:solidFill>
              <a:srgbClr val="00FF9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68880" y="4160520"/>
            <a:ext cx="192024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0" y="42336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9D"/>
                </a:solidFill>
              </a:rPr>
              <a:t>SUGAR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60320" y="44531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$0.21/lb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886200" y="44531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-2.0%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560320" y="4690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✓ Brazil output above est.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572000" y="1691640"/>
            <a:ext cx="4206240" cy="329184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0" y="1691640"/>
            <a:ext cx="420624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9160" y="1801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FF9D"/>
                </a:solidFill>
              </a:rPr>
              <a:t>HARVEST SEASON CALENDAR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709160" y="2148840"/>
            <a:ext cx="3931920" cy="365760"/>
          </a:xfrm>
          <a:prstGeom prst="rect">
            <a:avLst/>
          </a:prstGeom>
          <a:solidFill>
            <a:srgbClr val="0D1626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22037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N. Hemisphere Wheat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858000" y="22037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Jun–Aug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18120" y="2212848"/>
            <a:ext cx="731520" cy="219456"/>
          </a:xfrm>
          <a:prstGeom prst="rect">
            <a:avLst/>
          </a:prstGeom>
          <a:solidFill>
            <a:srgbClr val="FFB800">
              <a:alpha val="15000"/>
            </a:srgbClr>
          </a:solidFill>
          <a:ln w="5080">
            <a:solidFill>
              <a:srgbClr val="FFB8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18120" y="22128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B800"/>
                </a:solidFill>
              </a:rPr>
              <a:t>ACTIVE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4709160" y="2606040"/>
            <a:ext cx="3931920" cy="365760"/>
          </a:xfrm>
          <a:prstGeom prst="rect">
            <a:avLst/>
          </a:prstGeom>
          <a:solidFill>
            <a:srgbClr val="0D1626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0600" y="26609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US Corn Harvest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858000" y="26609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Sep–Nov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818120" y="2670048"/>
            <a:ext cx="731520" cy="219456"/>
          </a:xfrm>
          <a:prstGeom prst="rect">
            <a:avLst/>
          </a:prstGeom>
          <a:solidFill>
            <a:srgbClr val="00FF9D">
              <a:alpha val="15000"/>
            </a:srgbClr>
          </a:solidFill>
          <a:ln w="5080">
            <a:solidFill>
              <a:srgbClr val="00FF9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18120" y="26700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FF9D"/>
                </a:solidFill>
              </a:rPr>
              <a:t>UPCOMING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4709160" y="3063240"/>
            <a:ext cx="3931920" cy="365760"/>
          </a:xfrm>
          <a:prstGeom prst="rect">
            <a:avLst/>
          </a:prstGeom>
          <a:solidFill>
            <a:srgbClr val="0D1626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00600" y="31181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Brazil Soybeans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858000" y="31181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Mar–May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818120" y="3127248"/>
            <a:ext cx="731520" cy="219456"/>
          </a:xfrm>
          <a:prstGeom prst="rect">
            <a:avLst/>
          </a:prstGeom>
          <a:solidFill>
            <a:srgbClr val="8899AA">
              <a:alpha val="15000"/>
            </a:srgbClr>
          </a:solidFill>
          <a:ln w="5080">
            <a:solidFill>
              <a:srgbClr val="8899A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18120" y="31272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899AA"/>
                </a:solidFill>
              </a:rPr>
              <a:t>COMPLETE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4709160" y="3520440"/>
            <a:ext cx="3931920" cy="365760"/>
          </a:xfrm>
          <a:prstGeom prst="rect">
            <a:avLst/>
          </a:prstGeom>
          <a:solidFill>
            <a:srgbClr val="0D1626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00600" y="35753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Vietnam Coffee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858000" y="35753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Oct–Feb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818120" y="3584448"/>
            <a:ext cx="731520" cy="219456"/>
          </a:xfrm>
          <a:prstGeom prst="rect">
            <a:avLst/>
          </a:prstGeom>
          <a:solidFill>
            <a:srgbClr val="00D4FF">
              <a:alpha val="15000"/>
            </a:srgbClr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818120" y="35844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FF"/>
                </a:solidFill>
              </a:rPr>
              <a:t>UPCOMING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4709160" y="3977640"/>
            <a:ext cx="3931920" cy="365760"/>
          </a:xfrm>
          <a:prstGeom prst="rect">
            <a:avLst/>
          </a:prstGeom>
          <a:solidFill>
            <a:srgbClr val="0D1626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00600" y="40325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India Rice Kharif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858000" y="40325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Oct–Dec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818120" y="4041648"/>
            <a:ext cx="731520" cy="219456"/>
          </a:xfrm>
          <a:prstGeom prst="rect">
            <a:avLst/>
          </a:prstGeom>
          <a:solidFill>
            <a:srgbClr val="00D4FF">
              <a:alpha val="15000"/>
            </a:srgbClr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818120" y="40416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FF"/>
                </a:solidFill>
              </a:rPr>
              <a:t>UPCOMING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4709160" y="4434840"/>
            <a:ext cx="3931920" cy="365760"/>
          </a:xfrm>
          <a:prstGeom prst="rect">
            <a:avLst/>
          </a:prstGeom>
          <a:solidFill>
            <a:srgbClr val="0D1626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00600" y="44897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Brazil Sugarcane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858000" y="44897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Apr–Nov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818120" y="4498848"/>
            <a:ext cx="731520" cy="219456"/>
          </a:xfrm>
          <a:prstGeom prst="rect">
            <a:avLst/>
          </a:prstGeom>
          <a:solidFill>
            <a:srgbClr val="00FF9D">
              <a:alpha val="15000"/>
            </a:srgbClr>
          </a:solidFill>
          <a:ln w="5080">
            <a:solidFill>
              <a:srgbClr val="00FF9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818120" y="44988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FF9D"/>
                </a:solidFill>
              </a:rPr>
              <a:t>ACTIVE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D4FF"/>
                </a:solidFill>
              </a:rPr>
              <a:t>OVERLAYS 26–27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Crop Yield Monitoring &amp;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Food Supply Chain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365760" y="1691640"/>
            <a:ext cx="4206240" cy="3200400"/>
          </a:xfrm>
          <a:prstGeom prst="rect">
            <a:avLst/>
          </a:prstGeom>
          <a:solidFill>
            <a:srgbClr val="0D16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1691640"/>
            <a:ext cx="42062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8013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D4FF"/>
                </a:solidFill>
              </a:rPr>
              <a:t>OVERLAY 26 — CROP YIELD MONITORING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2075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Sentinel-2 NDVI imagery · Updated every 5 days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2377440"/>
            <a:ext cx="548640" cy="256032"/>
          </a:xfrm>
          <a:prstGeom prst="rect">
            <a:avLst/>
          </a:prstGeom>
          <a:solidFill>
            <a:srgbClr val="FF3B5C">
              <a:alpha val="70000"/>
            </a:srgbClr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" y="2377440"/>
            <a:ext cx="548640" cy="256032"/>
          </a:xfrm>
          <a:prstGeom prst="rect">
            <a:avLst/>
          </a:prstGeom>
          <a:solidFill>
            <a:srgbClr val="FFB800">
              <a:alpha val="70000"/>
            </a:srgbClr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0200" y="2377440"/>
            <a:ext cx="548640" cy="256032"/>
          </a:xfrm>
          <a:prstGeom prst="rect">
            <a:avLst/>
          </a:prstGeom>
          <a:solidFill>
            <a:srgbClr val="FFB800">
              <a:alpha val="70000"/>
            </a:srgbClr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48840" y="2377440"/>
            <a:ext cx="548640" cy="256032"/>
          </a:xfrm>
          <a:prstGeom prst="rect">
            <a:avLst/>
          </a:prstGeom>
          <a:solidFill>
            <a:srgbClr val="00FF9D">
              <a:alpha val="70000"/>
            </a:srgbClr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7480" y="2377440"/>
            <a:ext cx="548640" cy="256032"/>
          </a:xfrm>
          <a:prstGeom prst="rect">
            <a:avLst/>
          </a:prstGeom>
          <a:solidFill>
            <a:srgbClr val="00FF9D">
              <a:alpha val="70000"/>
            </a:srgbClr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2377440"/>
            <a:ext cx="548640" cy="256032"/>
          </a:xfrm>
          <a:prstGeom prst="rect">
            <a:avLst/>
          </a:prstGeom>
          <a:solidFill>
            <a:srgbClr val="00CC7A">
              <a:alpha val="70000"/>
            </a:srgbClr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94760" y="2377440"/>
            <a:ext cx="548640" cy="256032"/>
          </a:xfrm>
          <a:prstGeom prst="rect">
            <a:avLst/>
          </a:prstGeom>
          <a:solidFill>
            <a:srgbClr val="00FF9D">
              <a:alpha val="70000"/>
            </a:srgbClr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6791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3B5C"/>
                </a:solidFill>
              </a:rPr>
              <a:t>STRESSED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148840" y="26791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B800"/>
                </a:solidFill>
              </a:rPr>
              <a:t>MODERATE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429000" y="26791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FF9D"/>
                </a:solidFill>
              </a:rPr>
              <a:t>HEALTHY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02920" y="2971800"/>
            <a:ext cx="3931920" cy="292608"/>
          </a:xfrm>
          <a:prstGeom prst="rect">
            <a:avLst/>
          </a:prstGeom>
          <a:solidFill>
            <a:srgbClr val="0A1220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2971800"/>
            <a:ext cx="36576" cy="29260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0083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US Great Plains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23160" y="30083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9D"/>
                </a:solidFill>
              </a:rPr>
              <a:t>0.71 — Healthy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886200" y="300837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FF9D"/>
                </a:solidFill>
              </a:rPr>
              <a:t>+4%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3337560"/>
            <a:ext cx="3931920" cy="292608"/>
          </a:xfrm>
          <a:prstGeom prst="rect">
            <a:avLst/>
          </a:prstGeom>
          <a:solidFill>
            <a:srgbClr val="0A1220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3337560"/>
            <a:ext cx="36576" cy="292608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3374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Ukraine (Kherson)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423160" y="33741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3B5C"/>
                </a:solidFill>
              </a:rPr>
              <a:t>0.38 — Stressed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886200" y="33741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3B5C"/>
                </a:solidFill>
              </a:rPr>
              <a:t>-22%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" y="3703320"/>
            <a:ext cx="3931920" cy="292608"/>
          </a:xfrm>
          <a:prstGeom prst="rect">
            <a:avLst/>
          </a:prstGeom>
          <a:solidFill>
            <a:srgbClr val="0A1220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" y="3703320"/>
            <a:ext cx="36576" cy="29260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37398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Brazil Mato Grosso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423160" y="37398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9D"/>
                </a:solidFill>
              </a:rPr>
              <a:t>0.65 — Healthy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886200" y="373989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FF9D"/>
                </a:solidFill>
              </a:rPr>
              <a:t>+2%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2920" y="4069080"/>
            <a:ext cx="3931920" cy="292608"/>
          </a:xfrm>
          <a:prstGeom prst="rect">
            <a:avLst/>
          </a:prstGeom>
          <a:solidFill>
            <a:srgbClr val="0A1220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" y="4069080"/>
            <a:ext cx="36576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41056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India Punjab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423160" y="41056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800"/>
                </a:solidFill>
              </a:rPr>
              <a:t>0.52 — Moderate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886200" y="410565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B800"/>
                </a:solidFill>
              </a:rPr>
              <a:t>-8%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02920" y="4434840"/>
            <a:ext cx="3931920" cy="292608"/>
          </a:xfrm>
          <a:prstGeom prst="rect">
            <a:avLst/>
          </a:prstGeom>
          <a:solidFill>
            <a:srgbClr val="0A1220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2920" y="4434840"/>
            <a:ext cx="36576" cy="292608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4471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Argentina Pampas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423160" y="44714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3B5C"/>
                </a:solidFill>
              </a:rPr>
              <a:t>0.44 — Drought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886200" y="447141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3B5C"/>
                </a:solidFill>
              </a:rPr>
              <a:t>-15%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1691640"/>
            <a:ext cx="4023360" cy="3200400"/>
          </a:xfrm>
          <a:prstGeom prst="rect">
            <a:avLst/>
          </a:prstGeom>
          <a:solidFill>
            <a:srgbClr val="0D1626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0" y="1691640"/>
            <a:ext cx="402336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92040" y="1801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B800"/>
                </a:solidFill>
              </a:rPr>
              <a:t>OVERLAY 27 — FOOD SUPPLY CHAIN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92040" y="2103120"/>
            <a:ext cx="3749040" cy="420624"/>
          </a:xfrm>
          <a:prstGeom prst="rect">
            <a:avLst/>
          </a:prstGeom>
          <a:solidFill>
            <a:srgbClr val="0A122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92040" y="2103120"/>
            <a:ext cx="45720" cy="42062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0" y="2148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GRAIN STORAGE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29200" y="23317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4,200+ facilities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892040" y="2633472"/>
            <a:ext cx="3749040" cy="420624"/>
          </a:xfrm>
          <a:prstGeom prst="rect">
            <a:avLst/>
          </a:prstGeom>
          <a:solidFill>
            <a:srgbClr val="0A1220"/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92040" y="2633472"/>
            <a:ext cx="45720" cy="42062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0" y="2679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9D"/>
                </a:solidFill>
              </a:rPr>
              <a:t>EXPORT TERMINALS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029200" y="28620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890 global ports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892040" y="3163824"/>
            <a:ext cx="3749040" cy="420624"/>
          </a:xfrm>
          <a:prstGeom prst="rect">
            <a:avLst/>
          </a:prstGeom>
          <a:solidFill>
            <a:srgbClr val="0A1220"/>
          </a:solidFill>
          <a:ln w="6350">
            <a:solidFill>
              <a:srgbClr val="0D6EF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92040" y="3163824"/>
            <a:ext cx="45720" cy="42062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0" y="32095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6EFD"/>
                </a:solidFill>
              </a:rPr>
              <a:t>FOOD SHIP ROUTES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029200" y="339242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Live AIS tracking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892040" y="3694176"/>
            <a:ext cx="3749040" cy="420624"/>
          </a:xfrm>
          <a:prstGeom prst="rect">
            <a:avLst/>
          </a:prstGeom>
          <a:solidFill>
            <a:srgbClr val="0A1220"/>
          </a:solidFill>
          <a:ln w="6350">
            <a:solidFill>
              <a:srgbClr val="FF3B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92040" y="3694176"/>
            <a:ext cx="45720" cy="420624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29200" y="3739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B5C"/>
                </a:solidFill>
              </a:rPr>
              <a:t>SHORTAGE ALERTS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029200" y="39227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AI risk scoring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892040" y="4224528"/>
            <a:ext cx="3749040" cy="420624"/>
          </a:xfrm>
          <a:prstGeom prst="rect">
            <a:avLst/>
          </a:prstGeom>
          <a:solidFill>
            <a:srgbClr val="0A122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92040" y="4224528"/>
            <a:ext cx="45720" cy="42062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29200" y="4270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</a:rPr>
              <a:t>EMBARGO MONITOR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029200" y="44531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Policy + trade data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892040" y="4754880"/>
            <a:ext cx="3749040" cy="0"/>
          </a:xfrm>
          <a:prstGeom prst="rect">
            <a:avLst/>
          </a:prstGeom>
          <a:noFill/>
          <a:ln/>
        </p:spPr>
      </p:sp>
      <p:sp>
        <p:nvSpPr>
          <p:cNvPr id="83" name="Shape 81"/>
          <p:cNvSpPr/>
          <p:nvPr/>
        </p:nvSpPr>
        <p:spPr>
          <a:xfrm>
            <a:off x="4892040" y="4663440"/>
            <a:ext cx="3749040" cy="128016"/>
          </a:xfrm>
          <a:prstGeom prst="rect">
            <a:avLst/>
          </a:prstGeom>
          <a:solidFill>
            <a:srgbClr val="FF3B5C">
              <a:alpha val="20000"/>
            </a:srgbClr>
          </a:solidFill>
          <a:ln w="6350">
            <a:solidFill>
              <a:srgbClr val="FF3B5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892040" y="4663440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3B5C"/>
                </a:solidFill>
              </a:rPr>
              <a:t>FOOD CRISIS RISK: SAHEL REGION — ELEVATED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FFB800">
              <a:alpha val="20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B800"/>
                </a:solidFill>
              </a:rPr>
              <a:t>OVERLAY 28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Energy Commodity Intelligence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CDD8"/>
                </a:solidFill>
              </a:rPr>
              <a:t>Real-time pricing layered over production regions, pipeline infrastructure, and OSINT disruption signals.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1828800"/>
            <a:ext cx="42062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828800"/>
            <a:ext cx="420624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1901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800"/>
                </a:solidFill>
              </a:rPr>
              <a:t>WTI CRUDE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" y="21396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$83.42/bbl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566160" y="1901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+2.4%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" y="2505456"/>
            <a:ext cx="64008" cy="6400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" y="2487168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Cushing stocks -2.1M bbl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5488" y="2651760"/>
            <a:ext cx="64008" cy="6400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" y="2633472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Libya outage: 250k bbl/d offline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00600" y="1828800"/>
            <a:ext cx="42062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1828800"/>
            <a:ext cx="420624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1901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800"/>
                </a:solidFill>
              </a:rPr>
              <a:t>BRENT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10328" y="21396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$87.15/bbl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001000" y="1901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B800"/>
                </a:solidFill>
              </a:rPr>
              <a:t>+1.9%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910328" y="2505456"/>
            <a:ext cx="64008" cy="6400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38344" y="2487168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Red Sea routing premium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910328" y="2651760"/>
            <a:ext cx="64008" cy="6400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38344" y="2633472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North Sea seasonal maint.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65760" y="3017520"/>
            <a:ext cx="42062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0D6EF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3017520"/>
            <a:ext cx="4206240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30906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D6EFD"/>
                </a:solidFill>
              </a:rPr>
              <a:t>NATURAL GAS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5488" y="3328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$2.44/MMBtu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566160" y="30906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6EFD"/>
                </a:solidFill>
              </a:rPr>
              <a:t>-3.1%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75488" y="3694176"/>
            <a:ext cx="64008" cy="6400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" y="3675888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US storage +82 Bcf YoY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5488" y="3840480"/>
            <a:ext cx="64008" cy="6400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" y="3822192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EU LNG imports: record high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00600" y="3017520"/>
            <a:ext cx="42062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8899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00600" y="3017520"/>
            <a:ext cx="4206240" cy="36576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0328" y="30906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899AA"/>
                </a:solidFill>
              </a:rPr>
              <a:t>COAL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10328" y="3328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$121/tonne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8001000" y="30906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899AA"/>
                </a:solidFill>
              </a:rPr>
              <a:t>+0.8%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910328" y="3694176"/>
            <a:ext cx="64008" cy="64008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38344" y="3675888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Australia rail disruption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910328" y="3840480"/>
            <a:ext cx="64008" cy="64008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38344" y="3822192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India power demand surge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583180" y="4114800"/>
            <a:ext cx="42062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00FF9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83180" y="4114800"/>
            <a:ext cx="420624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92908" y="4187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FF9D"/>
                </a:solidFill>
              </a:rPr>
              <a:t>URANIUM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692908" y="44256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$91/lb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5783580" y="4187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FF9D"/>
                </a:solidFill>
              </a:rPr>
              <a:t>+12.4%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692908" y="4791456"/>
            <a:ext cx="64008" cy="64008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20924" y="4773168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Kazakhstan supply cut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692908" y="4937760"/>
            <a:ext cx="64008" cy="64008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20924" y="4919472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New US reactor approvals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D6EFD">
              <a:alpha val="20000"/>
            </a:srgbClr>
          </a:solidFill>
          <a:ln w="6350">
            <a:solidFill>
              <a:srgbClr val="0D6E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D6EFD"/>
                </a:solidFill>
              </a:rPr>
              <a:t>OVERLAY 29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Global Mineral Export Flows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CDD8"/>
                </a:solidFill>
              </a:rPr>
              <a:t>Track bulk cargo movements, trade corridors, and export concentrations using AIS + satellite correlation.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1737360"/>
            <a:ext cx="8412480" cy="292608"/>
          </a:xfrm>
          <a:prstGeom prst="rect">
            <a:avLst/>
          </a:prstGeom>
          <a:solidFill>
            <a:srgbClr val="0A1220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783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D4FF"/>
                </a:solidFill>
              </a:rPr>
              <a:t>COMMODITY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828800" y="1783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D4FF"/>
                </a:solidFill>
              </a:rPr>
              <a:t>ORIGIN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91840" y="1783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D4FF"/>
                </a:solidFill>
              </a:rPr>
              <a:t>DESTINATION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0" y="1783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D4FF"/>
                </a:solidFill>
              </a:rPr>
              <a:t>VOLUME/MO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26480" y="1783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D4FF"/>
                </a:solidFill>
              </a:rPr>
              <a:t>SHIPS TRACKED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589520" y="1783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D4FF"/>
                </a:solidFill>
              </a:rPr>
              <a:t>STATUS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5760" y="2084832"/>
            <a:ext cx="8412480" cy="292608"/>
          </a:xfrm>
          <a:prstGeom prst="rect">
            <a:avLst/>
          </a:prstGeom>
          <a:solidFill>
            <a:srgbClr val="0D1626"/>
          </a:solidFill>
          <a:ln w="3810">
            <a:solidFill>
              <a:srgbClr val="1A28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084832"/>
            <a:ext cx="45720" cy="29260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130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Iron Ore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828800" y="2130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Australia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91840" y="2130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China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2130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91M tonne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26480" y="2130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342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589520" y="2130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9D"/>
                </a:solidFill>
              </a:rPr>
              <a:t>NORMAL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2432304"/>
            <a:ext cx="8412480" cy="292608"/>
          </a:xfrm>
          <a:prstGeom prst="rect">
            <a:avLst/>
          </a:prstGeom>
          <a:solidFill>
            <a:srgbClr val="0A1220"/>
          </a:solidFill>
          <a:ln w="3810">
            <a:solidFill>
              <a:srgbClr val="1A28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2432304"/>
            <a:ext cx="45720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2478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Coal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28800" y="2478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Indonesia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91840" y="2478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India/China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54880" y="2478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58M tonne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26480" y="2478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217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589520" y="2478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800"/>
                </a:solidFill>
              </a:rPr>
              <a:t>ELEVATED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2779776"/>
            <a:ext cx="8412480" cy="292608"/>
          </a:xfrm>
          <a:prstGeom prst="rect">
            <a:avLst/>
          </a:prstGeom>
          <a:solidFill>
            <a:srgbClr val="0D1626"/>
          </a:solidFill>
          <a:ln w="3810">
            <a:solidFill>
              <a:srgbClr val="1A28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2779776"/>
            <a:ext cx="45720" cy="292608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2825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Copper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828800" y="2825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Chile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291840" y="2825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China/EU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54880" y="2825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1.8M tonne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26480" y="2825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94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89520" y="2825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3B5C"/>
                </a:solidFill>
              </a:rPr>
              <a:t>⚠ STRIKE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65760" y="3127248"/>
            <a:ext cx="8412480" cy="292608"/>
          </a:xfrm>
          <a:prstGeom prst="rect">
            <a:avLst/>
          </a:prstGeom>
          <a:solidFill>
            <a:srgbClr val="0A1220"/>
          </a:solidFill>
          <a:ln w="3810">
            <a:solidFill>
              <a:srgbClr val="1A28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3127248"/>
            <a:ext cx="45720" cy="29260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3172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LNG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828800" y="3172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Qatar/USA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91840" y="3172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Europe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754880" y="3172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22M tonne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126480" y="3172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156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589520" y="3172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9D"/>
                </a:solidFill>
              </a:rPr>
              <a:t>NORMAL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solidFill>
            <a:srgbClr val="0D1626"/>
          </a:solidFill>
          <a:ln w="3810">
            <a:solidFill>
              <a:srgbClr val="1A284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5760" y="3474720"/>
            <a:ext cx="45720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3520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Lithium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828800" y="3520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Chile/Arg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291840" y="3520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Korea/Japan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754880" y="3520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0.6M tonne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126480" y="3520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28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589520" y="3520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800"/>
                </a:solidFill>
              </a:rPr>
              <a:t>CONSTRAIN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65760" y="3822192"/>
            <a:ext cx="8412480" cy="292608"/>
          </a:xfrm>
          <a:prstGeom prst="rect">
            <a:avLst/>
          </a:prstGeom>
          <a:solidFill>
            <a:srgbClr val="0A1220"/>
          </a:solidFill>
          <a:ln w="3810">
            <a:solidFill>
              <a:srgbClr val="1A284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5760" y="3822192"/>
            <a:ext cx="45720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" y="38679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Cobalt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828800" y="38679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DRC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3291840" y="38679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China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754880" y="38679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0.1M tonne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126480" y="38679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12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589520" y="38679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WATCHED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65760" y="4169664"/>
            <a:ext cx="8412480" cy="292608"/>
          </a:xfrm>
          <a:prstGeom prst="rect">
            <a:avLst/>
          </a:prstGeom>
          <a:solidFill>
            <a:srgbClr val="0D1626"/>
          </a:solidFill>
          <a:ln w="3810">
            <a:solidFill>
              <a:srgbClr val="1A284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65760" y="4169664"/>
            <a:ext cx="45720" cy="292608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2920" y="4215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Wheat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828800" y="4215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Ukraine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3291840" y="4215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MENA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4754880" y="4215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2.4M tonne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126480" y="4215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67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589520" y="42153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3B5C"/>
                </a:solidFill>
              </a:rPr>
              <a:t>⚠ BLOCKD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65760" y="4517136"/>
            <a:ext cx="8412480" cy="292608"/>
          </a:xfrm>
          <a:prstGeom prst="rect">
            <a:avLst/>
          </a:prstGeom>
          <a:solidFill>
            <a:srgbClr val="0A1220"/>
          </a:solidFill>
          <a:ln w="3810">
            <a:solidFill>
              <a:srgbClr val="1A284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5760" y="4517136"/>
            <a:ext cx="45720" cy="292608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02920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Bauxite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1828800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Guinea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3291840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China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4754880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7.2M tonne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6126480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DD8"/>
                </a:solidFill>
              </a:rPr>
              <a:t>88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7589520" y="45628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FF9D"/>
                </a:solidFill>
              </a:rPr>
              <a:t>NORMAL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65760" y="4846320"/>
            <a:ext cx="2011680" cy="237744"/>
          </a:xfrm>
          <a:prstGeom prst="rect">
            <a:avLst/>
          </a:prstGeom>
          <a:solidFill>
            <a:srgbClr val="0D1626"/>
          </a:solidFill>
          <a:ln w="6350">
            <a:solidFill>
              <a:srgbClr val="0D6EF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65760" y="4846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1,004  Ships Tracked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514600" y="4846320"/>
            <a:ext cx="2011680" cy="237744"/>
          </a:xfrm>
          <a:prstGeom prst="rect">
            <a:avLst/>
          </a:prstGeom>
          <a:solidFill>
            <a:srgbClr val="0D1626"/>
          </a:solidFill>
          <a:ln w="6350">
            <a:solidFill>
              <a:srgbClr val="0D6EF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514600" y="4846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183M t  Monthly Volume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846320"/>
            <a:ext cx="2011680" cy="237744"/>
          </a:xfrm>
          <a:prstGeom prst="rect">
            <a:avLst/>
          </a:prstGeom>
          <a:solidFill>
            <a:srgbClr val="0D1626"/>
          </a:solidFill>
          <a:ln w="6350">
            <a:solidFill>
              <a:srgbClr val="0D6EF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663440" y="4846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3  Active Disruptions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812280" y="4846320"/>
            <a:ext cx="2011680" cy="237744"/>
          </a:xfrm>
          <a:prstGeom prst="rect">
            <a:avLst/>
          </a:prstGeom>
          <a:solidFill>
            <a:srgbClr val="0D1626"/>
          </a:solidFill>
          <a:ln w="6350">
            <a:solidFill>
              <a:srgbClr val="0D6EF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812280" y="4846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12  Corridors Monitored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FF3B5C">
              <a:alpha val="20000"/>
            </a:srgbClr>
          </a:solidFill>
          <a:ln w="6350">
            <a:solidFill>
              <a:srgbClr val="FF3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3B5C"/>
                </a:solidFill>
              </a:rPr>
              <a:t>OVERLAY 30 — AI LAYER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Commodity Price Shock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Detection Engine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57200" y="17556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CDD8"/>
                </a:solidFill>
              </a:rPr>
              <a:t>AI correlates commodity price feeds with geopolitical events,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0CDD8"/>
                </a:solidFill>
              </a:rPr>
              <a:t>supply disruptions, and OSINT signals in real time.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377440"/>
            <a:ext cx="5029200" cy="777240"/>
          </a:xfrm>
          <a:prstGeom prst="rect">
            <a:avLst/>
          </a:prstGeom>
          <a:solidFill>
            <a:srgbClr val="0A1220"/>
          </a:solidFill>
          <a:ln w="10160">
            <a:solidFill>
              <a:srgbClr val="FF3B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377440"/>
            <a:ext cx="5029200" cy="3657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468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3B5C"/>
                </a:solidFill>
              </a:rPr>
              <a:t>🔴 CRITICAL SHOCK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2651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Copper +8.3% in 24h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28895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Escondida Mine strike confirmed. Chilean output down 340k tonnes/yr.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Demand surge from EV sector absorbing supply shock.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532120" y="2441448"/>
            <a:ext cx="1508760" cy="182880"/>
          </a:xfrm>
          <a:prstGeom prst="rect">
            <a:avLst/>
          </a:prstGeom>
          <a:solidFill>
            <a:srgbClr val="FF3B5C">
              <a:alpha val="15000"/>
            </a:srgbClr>
          </a:solidFill>
          <a:ln w="5080">
            <a:solidFill>
              <a:srgbClr val="FF3B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24414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3B5C"/>
                </a:solidFill>
              </a:rPr>
              <a:t>Industrial Metals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532120" y="2660904"/>
            <a:ext cx="1508760" cy="182880"/>
          </a:xfrm>
          <a:prstGeom prst="rect">
            <a:avLst/>
          </a:prstGeom>
          <a:solidFill>
            <a:srgbClr val="FF3B5C">
              <a:alpha val="15000"/>
            </a:srgbClr>
          </a:solidFill>
          <a:ln w="5080">
            <a:solidFill>
              <a:srgbClr val="FF3B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26609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3B5C"/>
                </a:solidFill>
              </a:rPr>
              <a:t>Mining Layer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532120" y="2880360"/>
            <a:ext cx="1508760" cy="182880"/>
          </a:xfrm>
          <a:prstGeom prst="rect">
            <a:avLst/>
          </a:prstGeom>
          <a:solidFill>
            <a:srgbClr val="FF3B5C">
              <a:alpha val="15000"/>
            </a:srgbClr>
          </a:solidFill>
          <a:ln w="5080">
            <a:solidFill>
              <a:srgbClr val="FF3B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28803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3B5C"/>
                </a:solidFill>
              </a:rPr>
              <a:t>Chile AIS Exports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178040" y="2514600"/>
            <a:ext cx="1554480" cy="502920"/>
          </a:xfrm>
          <a:prstGeom prst="rect">
            <a:avLst/>
          </a:prstGeom>
          <a:solidFill>
            <a:srgbClr val="0D1626"/>
          </a:solidFill>
          <a:ln w="10160">
            <a:solidFill>
              <a:srgbClr val="FF3B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25146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8899AA"/>
                </a:solidFill>
              </a:rPr>
              <a:t>CONFIDENCE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7178040" y="26700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3B5C"/>
                </a:solidFill>
              </a:rPr>
              <a:t>91%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365760" y="3273552"/>
            <a:ext cx="5029200" cy="777240"/>
          </a:xfrm>
          <a:prstGeom prst="rect">
            <a:avLst/>
          </a:prstGeom>
          <a:solidFill>
            <a:srgbClr val="0A1220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273552"/>
            <a:ext cx="50292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364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B800"/>
                </a:solidFill>
              </a:rPr>
              <a:t>⚠ HIGH ALERT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2920" y="3547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Wheat +12.1% — Black Sea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37856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Ukraine export corridor incident detected via AIS + satellite.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Egypt and MENA stockpile drawdown risk flagged.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532120" y="3337560"/>
            <a:ext cx="1508760" cy="182880"/>
          </a:xfrm>
          <a:prstGeom prst="rect">
            <a:avLst/>
          </a:prstGeom>
          <a:solidFill>
            <a:srgbClr val="FFB800">
              <a:alpha val="15000"/>
            </a:srgbClr>
          </a:solidFill>
          <a:ln w="5080">
            <a:solidFill>
              <a:srgbClr val="FFB8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33375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800"/>
                </a:solidFill>
              </a:rPr>
              <a:t>Agri Dashboard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532120" y="3557016"/>
            <a:ext cx="1508760" cy="182880"/>
          </a:xfrm>
          <a:prstGeom prst="rect">
            <a:avLst/>
          </a:prstGeom>
          <a:solidFill>
            <a:srgbClr val="FFB800">
              <a:alpha val="15000"/>
            </a:srgbClr>
          </a:solidFill>
          <a:ln w="5080">
            <a:solidFill>
              <a:srgbClr val="FFB8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355701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800"/>
                </a:solidFill>
              </a:rPr>
              <a:t>Maritime AIS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532120" y="3776472"/>
            <a:ext cx="1508760" cy="182880"/>
          </a:xfrm>
          <a:prstGeom prst="rect">
            <a:avLst/>
          </a:prstGeom>
          <a:solidFill>
            <a:srgbClr val="FFB800">
              <a:alpha val="15000"/>
            </a:srgbClr>
          </a:solidFill>
          <a:ln w="5080">
            <a:solidFill>
              <a:srgbClr val="FFB8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37764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800"/>
                </a:solidFill>
              </a:rPr>
              <a:t>Conflict Layer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178040" y="3410712"/>
            <a:ext cx="1554480" cy="502920"/>
          </a:xfrm>
          <a:prstGeom prst="rect">
            <a:avLst/>
          </a:prstGeom>
          <a:solidFill>
            <a:srgbClr val="0D1626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78040" y="34107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8899AA"/>
                </a:solidFill>
              </a:rPr>
              <a:t>CONFIDENCE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7178040" y="3566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800"/>
                </a:solidFill>
              </a:rPr>
              <a:t>84%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365760" y="4169664"/>
            <a:ext cx="5029200" cy="777240"/>
          </a:xfrm>
          <a:prstGeom prst="rect">
            <a:avLst/>
          </a:prstGeom>
          <a:solidFill>
            <a:srgbClr val="0A1220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4169664"/>
            <a:ext cx="5029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2611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D4FF"/>
                </a:solidFill>
              </a:rPr>
              <a:t>◉ WATCH SIGNAL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02920" y="44439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Nickel Squeeze Risk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02920" y="4681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Indonesia reviewing export ban extension. Indonesian mine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output satellites show unusual shipping activity.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532120" y="4233672"/>
            <a:ext cx="1508760" cy="182880"/>
          </a:xfrm>
          <a:prstGeom prst="rect">
            <a:avLst/>
          </a:prstGeom>
          <a:solidFill>
            <a:srgbClr val="00D4FF">
              <a:alpha val="15000"/>
            </a:srgbClr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32120" y="42336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Rare Earth Layer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532120" y="4453128"/>
            <a:ext cx="1508760" cy="182880"/>
          </a:xfrm>
          <a:prstGeom prst="rect">
            <a:avLst/>
          </a:prstGeom>
          <a:solidFill>
            <a:srgbClr val="00D4FF">
              <a:alpha val="15000"/>
            </a:srgbClr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44531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Sat Imagery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532120" y="4672584"/>
            <a:ext cx="1508760" cy="182880"/>
          </a:xfrm>
          <a:prstGeom prst="rect">
            <a:avLst/>
          </a:prstGeom>
          <a:solidFill>
            <a:srgbClr val="00D4FF">
              <a:alpha val="15000"/>
            </a:srgbClr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32120" y="46725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Policy Monitor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178040" y="4306824"/>
            <a:ext cx="1554480" cy="502920"/>
          </a:xfrm>
          <a:prstGeom prst="rect">
            <a:avLst/>
          </a:prstGeom>
          <a:solidFill>
            <a:srgbClr val="0D16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78040" y="43068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8899AA"/>
                </a:solidFill>
              </a:rPr>
              <a:t>CONFIDENCE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7178040" y="44622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67%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0FF9D">
              <a:alpha val="20000"/>
            </a:srgbClr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FF9D"/>
                </a:solidFill>
              </a:rPr>
              <a:t>EXPANDED MARKET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Market Intelligence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Expands the Addressable Market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7200" y="18745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CDD8"/>
                </a:solidFill>
              </a:rPr>
              <a:t>Commodity Market Intelligence unlocks 3 entirely new buyer segments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0CDD8"/>
                </a:solidFill>
              </a:rPr>
              <a:t>that security-focused OSINT platforms cannot serve.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4663440" cy="685800"/>
          </a:xfrm>
          <a:prstGeom prst="rect">
            <a:avLst/>
          </a:prstGeom>
          <a:solidFill>
            <a:srgbClr val="0D1626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51760"/>
            <a:ext cx="45720" cy="6858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7066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800"/>
                </a:solidFill>
              </a:rPr>
              <a:t>COMMODITIES DESK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2971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Trading firms, hedge funds, prop desks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using price + supply chain signals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0" y="276148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800"/>
                </a:solidFill>
              </a:rPr>
              <a:t>$14B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840480" y="3172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TAM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3456432"/>
            <a:ext cx="4663440" cy="685800"/>
          </a:xfrm>
          <a:prstGeom prst="rect">
            <a:avLst/>
          </a:prstGeom>
          <a:solidFill>
            <a:srgbClr val="0D16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456432"/>
            <a:ext cx="45720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112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D4FF"/>
                </a:solidFill>
              </a:rPr>
              <a:t>MACRO INVESTORS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3776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Global macro funds, multi-strategy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firms monitoring geopolitical risk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0" y="3566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$9B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840480" y="39776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TAM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4261104"/>
            <a:ext cx="4663440" cy="685800"/>
          </a:xfrm>
          <a:prstGeom prst="rect">
            <a:avLst/>
          </a:prstGeom>
          <a:solidFill>
            <a:srgbClr val="0D1626"/>
          </a:solidFill>
          <a:ln w="10160">
            <a:solidFill>
              <a:srgbClr val="00FF9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261104"/>
            <a:ext cx="45720" cy="68580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315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FF9D"/>
                </a:solidFill>
              </a:rPr>
              <a:t>CORPORATE RISK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5811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Supply chain officers, manufacturers,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logistics companies tracking disruptions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40480" y="437083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9D"/>
                </a:solidFill>
              </a:rPr>
              <a:t>$6B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3840480" y="47823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TAM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257800" y="1691640"/>
            <a:ext cx="3520440" cy="342900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57800" y="1691640"/>
            <a:ext cx="35204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18013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D4FF"/>
                </a:solidFill>
              </a:rPr>
              <a:t>REVISED TAM BREAKDOWN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394960" y="2176272"/>
            <a:ext cx="2011680" cy="329184"/>
          </a:xfrm>
          <a:prstGeom prst="rect">
            <a:avLst/>
          </a:prstGeom>
          <a:solidFill>
            <a:srgbClr val="0A1220"/>
          </a:solidFill>
          <a:ln w="3810">
            <a:solidFill>
              <a:srgbClr val="1A28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94960" y="2176272"/>
            <a:ext cx="914400" cy="329184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0" y="22402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GEOINT / OSINT Platforms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52360" y="22402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$9.2B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94960" y="2688336"/>
            <a:ext cx="2011680" cy="329184"/>
          </a:xfrm>
          <a:prstGeom prst="rect">
            <a:avLst/>
          </a:prstGeom>
          <a:solidFill>
            <a:srgbClr val="0A1220"/>
          </a:solidFill>
          <a:ln w="3810">
            <a:solidFill>
              <a:srgbClr val="1A28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0" y="2688336"/>
            <a:ext cx="914400" cy="329184"/>
          </a:xfrm>
          <a:prstGeom prst="rect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0" y="27523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Commodity Trading Intel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52360" y="2752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$14B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394960" y="3200400"/>
            <a:ext cx="2011680" cy="329184"/>
          </a:xfrm>
          <a:prstGeom prst="rect">
            <a:avLst/>
          </a:prstGeom>
          <a:solidFill>
            <a:srgbClr val="0A1220"/>
          </a:solidFill>
          <a:ln w="3810">
            <a:solidFill>
              <a:srgbClr val="1A284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94960" y="3200400"/>
            <a:ext cx="914400" cy="329184"/>
          </a:xfrm>
          <a:prstGeom prst="rect">
            <a:avLst/>
          </a:prstGeom>
          <a:solidFill>
            <a:srgbClr val="00FF9D">
              <a:alpha val="30000"/>
            </a:srgbClr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326440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Macro/Hedge Fund Intel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452360" y="32644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D"/>
                </a:solidFill>
              </a:rPr>
              <a:t>$9B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394960" y="3712464"/>
            <a:ext cx="2011680" cy="329184"/>
          </a:xfrm>
          <a:prstGeom prst="rect">
            <a:avLst/>
          </a:prstGeom>
          <a:solidFill>
            <a:srgbClr val="0A1220"/>
          </a:solidFill>
          <a:ln w="3810">
            <a:solidFill>
              <a:srgbClr val="1A28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94960" y="3712464"/>
            <a:ext cx="914400" cy="329184"/>
          </a:xfrm>
          <a:prstGeom prst="rect">
            <a:avLst/>
          </a:prstGeom>
          <a:solidFill>
            <a:srgbClr val="0D6EFD">
              <a:alpha val="30000"/>
            </a:srgbClr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94960" y="37764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Supply Chain Risk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452360" y="37764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FD"/>
                </a:solidFill>
              </a:rPr>
              <a:t>$6B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394960" y="4224528"/>
            <a:ext cx="2011680" cy="329184"/>
          </a:xfrm>
          <a:prstGeom prst="rect">
            <a:avLst/>
          </a:prstGeom>
          <a:solidFill>
            <a:srgbClr val="0A1220"/>
          </a:solidFill>
          <a:ln w="3810">
            <a:solidFill>
              <a:srgbClr val="1A28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94960" y="4224528"/>
            <a:ext cx="914400" cy="329184"/>
          </a:xfrm>
          <a:prstGeom prst="rect">
            <a:avLst/>
          </a:prstGeom>
          <a:solidFill>
            <a:srgbClr val="FF3B5C">
              <a:alpha val="30000"/>
            </a:srgbClr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94960" y="428853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Gov / Defense OSINT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452360" y="42885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B5C"/>
                </a:solidFill>
              </a:rPr>
              <a:t>$8.8B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394960" y="4828032"/>
            <a:ext cx="324612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94960" y="4864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TOTAL EXPANDED TAM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45236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$47B+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FFB800">
              <a:alpha val="20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B800"/>
                </a:solidFill>
              </a:rPr>
              <a:t>MONETIZATION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Market Intelligence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Pricing Tiers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5720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CDD8"/>
                </a:solidFill>
              </a:rPr>
              <a:t>Three dedicated Market Intelligence add-ons,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0CDD8"/>
                </a:solidFill>
              </a:rPr>
              <a:t>sold as upgrades to the base PolyMatic plans.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487168"/>
            <a:ext cx="2560320" cy="2377440"/>
          </a:xfrm>
          <a:prstGeom prst="rect">
            <a:avLst/>
          </a:prstGeom>
          <a:solidFill>
            <a:srgbClr val="0D1626"/>
          </a:solidFill>
          <a:ln w="10160">
            <a:solidFill>
              <a:srgbClr val="00FF9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487168"/>
            <a:ext cx="256032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FF9D"/>
                </a:solidFill>
              </a:rPr>
              <a:t>TRADER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834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$299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365760" y="34015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/ seat / mo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36027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FF9D"/>
                </a:solidFill>
              </a:rPr>
              <a:t>Add-on to Analyst plan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3822192"/>
            <a:ext cx="219456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904488"/>
            <a:ext cx="82296" cy="82296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38679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10 commodity overlays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" y="4178808"/>
            <a:ext cx="82296" cy="82296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1422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Price heatmap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4453128"/>
            <a:ext cx="82296" cy="82296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4165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Harvest calendar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" y="4727448"/>
            <a:ext cx="82296" cy="82296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4690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Basic alerts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4480560"/>
            <a:ext cx="2377440" cy="292608"/>
          </a:xfrm>
          <a:prstGeom prst="rect">
            <a:avLst/>
          </a:prstGeom>
          <a:solidFill>
            <a:srgbClr val="00FF9D">
              <a:alpha val="20000"/>
            </a:srgbClr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FF9D"/>
                </a:solidFill>
              </a:rPr>
              <a:t>RETAIL · PROP TRADERS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00400" y="2286000"/>
            <a:ext cx="2651760" cy="2697480"/>
          </a:xfrm>
          <a:prstGeom prst="rect">
            <a:avLst/>
          </a:prstGeom>
          <a:solidFill>
            <a:srgbClr val="FFB800">
              <a:alpha val="8000"/>
            </a:srgbClr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46120" y="2331720"/>
            <a:ext cx="2560320" cy="2606040"/>
          </a:xfrm>
          <a:prstGeom prst="rect">
            <a:avLst/>
          </a:prstGeom>
          <a:solidFill>
            <a:srgbClr val="0D1626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46120" y="2331720"/>
            <a:ext cx="256032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2423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B800"/>
                </a:solidFill>
              </a:rPr>
              <a:t>MARKET PRO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46120" y="26791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$890</a:t>
            </a:r>
            <a:endParaRPr lang="en-US" sz="3400" dirty="0"/>
          </a:p>
        </p:txBody>
      </p:sp>
      <p:sp>
        <p:nvSpPr>
          <p:cNvPr id="43" name="Text 41"/>
          <p:cNvSpPr/>
          <p:nvPr/>
        </p:nvSpPr>
        <p:spPr>
          <a:xfrm>
            <a:off x="3246120" y="3246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/ seat / mo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337560" y="3447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B800"/>
                </a:solidFill>
              </a:rPr>
              <a:t>Add-on to Professional plan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429000" y="3666744"/>
            <a:ext cx="219456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29000" y="3749040"/>
            <a:ext cx="82296" cy="82296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93592" y="3712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All 10 MI overlays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429000" y="4023360"/>
            <a:ext cx="82296" cy="82296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93592" y="39867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AI shock detection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429000" y="4297680"/>
            <a:ext cx="82296" cy="82296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93592" y="42611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Supply chain flows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429000" y="4572000"/>
            <a:ext cx="82296" cy="82296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93592" y="45354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WebSocket price API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337560" y="4553712"/>
            <a:ext cx="2377440" cy="292608"/>
          </a:xfrm>
          <a:prstGeom prst="rect">
            <a:avLst/>
          </a:prstGeom>
          <a:solidFill>
            <a:srgbClr val="FFB800">
              <a:alpha val="20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4553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B800"/>
                </a:solidFill>
              </a:rPr>
              <a:t>HEDGE FUNDS · MACRO DESKS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126480" y="2487168"/>
            <a:ext cx="2560320" cy="2377440"/>
          </a:xfrm>
          <a:prstGeom prst="rect">
            <a:avLst/>
          </a:prstGeom>
          <a:solidFill>
            <a:srgbClr val="0D16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26480" y="2487168"/>
            <a:ext cx="25603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2648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</a:rPr>
              <a:t>QUANT DESK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126480" y="2834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Custom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6126480" y="34015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contract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217920" y="36027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D4FF"/>
                </a:solidFill>
              </a:rPr>
              <a:t>Enterprise full-suite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309360" y="3822192"/>
            <a:ext cx="219456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09360" y="3904488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73952" y="38679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Raw data feeds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309360" y="4178808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73952" y="41422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Custom alerts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309360" y="4453128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73952" y="44165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Model API access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309360" y="4727448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73952" y="4690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Dedicated analyst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217920" y="4480560"/>
            <a:ext cx="2377440" cy="292608"/>
          </a:xfrm>
          <a:prstGeom prst="rect">
            <a:avLst/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1792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</a:rPr>
              <a:t>QUANT FUNDS · GOV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65760" y="1920240"/>
            <a:ext cx="4297680" cy="502920"/>
          </a:xfrm>
          <a:prstGeom prst="rect">
            <a:avLst/>
          </a:prstGeom>
          <a:solidFill>
            <a:srgbClr val="0A1220"/>
          </a:solidFill>
          <a:ln w="10160">
            <a:solidFill>
              <a:srgbClr val="00FF9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5760" y="1920240"/>
            <a:ext cx="429768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19933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DD8"/>
                </a:solidFill>
              </a:rPr>
              <a:t>REVENUE UPLIFT: Market Intelligence add-ons increase ARPU 1.6×–3.5×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DD8"/>
                </a:solidFill>
              </a:rPr>
              <a:t>for existing PolyMatic subscribers. Incremental CAC ≈ $0.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PolyMatic — Global Geospatial Macro Intelligence</dc:title>
  <dc:subject>PptxGenJS Presentation</dc:subject>
  <dc:creator>PolyMatic Team</dc:creator>
  <cp:lastModifiedBy>PolyMatic Team</cp:lastModifiedBy>
  <cp:revision>1</cp:revision>
  <dcterms:created xsi:type="dcterms:W3CDTF">2026-03-10T04:08:32Z</dcterms:created>
  <dcterms:modified xsi:type="dcterms:W3CDTF">2026-03-10T04:08:32Z</dcterms:modified>
</cp:coreProperties>
</file>